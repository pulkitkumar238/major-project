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 id="2147483650" r:id="rId4"/>
    <p:sldMasterId id="2147483651" r:id="rId5"/>
    <p:sldMasterId id="2147483652" r:id="rId6"/>
    <p:sldMasterId id="214748365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y="6858000" cx="9144000"/>
  <p:notesSz cx="7315200" cy="9601200"/>
  <p:embeddedFontLst>
    <p:embeddedFont>
      <p:font typeface="Lustria"/>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11" Type="http://schemas.openxmlformats.org/officeDocument/2006/relationships/slide" Target="slides/slide3.xml"/><Relationship Id="rId22" Type="http://schemas.openxmlformats.org/officeDocument/2006/relationships/font" Target="fonts/Lustria-regular.fntdata"/><Relationship Id="rId10" Type="http://schemas.openxmlformats.org/officeDocument/2006/relationships/slide" Target="slides/slide2.xml"/><Relationship Id="rId21" Type="http://schemas.openxmlformats.org/officeDocument/2006/relationships/slide" Target="slides/slide13.xml"/><Relationship Id="rId13" Type="http://schemas.openxmlformats.org/officeDocument/2006/relationships/slide" Target="slides/slide5.xml"/><Relationship Id="rId12" Type="http://schemas.openxmlformats.org/officeDocument/2006/relationships/slide" Target="slides/slide4.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1.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5" Type="http://schemas.openxmlformats.org/officeDocument/2006/relationships/slideMaster" Target="slideMasters/slideMaster3.xml"/><Relationship Id="rId19" Type="http://schemas.openxmlformats.org/officeDocument/2006/relationships/slide" Target="slides/slide11.xml"/><Relationship Id="rId6" Type="http://schemas.openxmlformats.org/officeDocument/2006/relationships/slideMaster" Target="slideMasters/slideMaster4.xml"/><Relationship Id="rId18" Type="http://schemas.openxmlformats.org/officeDocument/2006/relationships/slide" Target="slides/slide10.xml"/><Relationship Id="rId7" Type="http://schemas.openxmlformats.org/officeDocument/2006/relationships/slideMaster" Target="slideMasters/slideMaster5.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nvSpPr>
        <p:spPr>
          <a:xfrm>
            <a:off x="0" y="0"/>
            <a:ext cx="7315200" cy="9601200"/>
          </a:xfrm>
          <a:prstGeom prst="rect">
            <a:avLst/>
          </a:prstGeom>
          <a:solidFill>
            <a:srgbClr val="FFFFFF"/>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4" name="Google Shape;4;n"/>
          <p:cNvSpPr/>
          <p:nvPr/>
        </p:nvSpPr>
        <p:spPr>
          <a:xfrm>
            <a:off x="0" y="0"/>
            <a:ext cx="7315200" cy="9601200"/>
          </a:xfrm>
          <a:custGeom>
            <a:rect b="b" l="l" r="r" t="t"/>
            <a:pathLst>
              <a:path extrusionOk="0" h="28350" w="21600">
                <a:moveTo>
                  <a:pt x="5" y="0"/>
                </a:moveTo>
                <a:lnTo>
                  <a:pt x="5" y="0"/>
                </a:lnTo>
                <a:cubicBezTo>
                  <a:pt x="4" y="0"/>
                  <a:pt x="3" y="0"/>
                  <a:pt x="3" y="0"/>
                </a:cubicBezTo>
                <a:cubicBezTo>
                  <a:pt x="2" y="0"/>
                  <a:pt x="1" y="1"/>
                  <a:pt x="1" y="1"/>
                </a:cubicBezTo>
                <a:cubicBezTo>
                  <a:pt x="1" y="1"/>
                  <a:pt x="0" y="2"/>
                  <a:pt x="0" y="3"/>
                </a:cubicBezTo>
                <a:cubicBezTo>
                  <a:pt x="0" y="3"/>
                  <a:pt x="0" y="4"/>
                  <a:pt x="0" y="5"/>
                </a:cubicBezTo>
                <a:lnTo>
                  <a:pt x="0" y="28345"/>
                </a:lnTo>
                <a:lnTo>
                  <a:pt x="0" y="28345"/>
                </a:lnTo>
                <a:cubicBezTo>
                  <a:pt x="0" y="28345"/>
                  <a:pt x="0" y="28346"/>
                  <a:pt x="0" y="28346"/>
                </a:cubicBezTo>
                <a:cubicBezTo>
                  <a:pt x="0" y="28347"/>
                  <a:pt x="1" y="28348"/>
                  <a:pt x="1" y="28348"/>
                </a:cubicBezTo>
                <a:cubicBezTo>
                  <a:pt x="1" y="28348"/>
                  <a:pt x="2" y="28349"/>
                  <a:pt x="3" y="28349"/>
                </a:cubicBezTo>
                <a:cubicBezTo>
                  <a:pt x="3" y="28349"/>
                  <a:pt x="4" y="28350"/>
                  <a:pt x="5" y="28350"/>
                </a:cubicBezTo>
                <a:lnTo>
                  <a:pt x="21595" y="28350"/>
                </a:lnTo>
                <a:lnTo>
                  <a:pt x="21595" y="28350"/>
                </a:lnTo>
                <a:cubicBezTo>
                  <a:pt x="21595" y="28350"/>
                  <a:pt x="21596" y="28349"/>
                  <a:pt x="21596" y="28349"/>
                </a:cubicBezTo>
                <a:cubicBezTo>
                  <a:pt x="21597" y="28349"/>
                  <a:pt x="21598" y="28348"/>
                  <a:pt x="21598" y="28348"/>
                </a:cubicBezTo>
                <a:cubicBezTo>
                  <a:pt x="21598" y="28348"/>
                  <a:pt x="21599" y="28347"/>
                  <a:pt x="21599" y="28346"/>
                </a:cubicBezTo>
                <a:cubicBezTo>
                  <a:pt x="21599" y="28346"/>
                  <a:pt x="21600" y="28345"/>
                  <a:pt x="21600" y="28345"/>
                </a:cubicBezTo>
                <a:lnTo>
                  <a:pt x="21600" y="5"/>
                </a:lnTo>
                <a:lnTo>
                  <a:pt x="21600" y="5"/>
                </a:lnTo>
                <a:cubicBezTo>
                  <a:pt x="21600" y="4"/>
                  <a:pt x="21599" y="3"/>
                  <a:pt x="21599" y="3"/>
                </a:cubicBezTo>
                <a:cubicBezTo>
                  <a:pt x="21599" y="2"/>
                  <a:pt x="21598" y="1"/>
                  <a:pt x="21598" y="1"/>
                </a:cubicBezTo>
                <a:cubicBezTo>
                  <a:pt x="21598" y="1"/>
                  <a:pt x="21597" y="0"/>
                  <a:pt x="21596" y="0"/>
                </a:cubicBezTo>
                <a:cubicBezTo>
                  <a:pt x="21596" y="0"/>
                  <a:pt x="21595" y="0"/>
                  <a:pt x="21595" y="0"/>
                </a:cubicBezTo>
                <a:lnTo>
                  <a:pt x="5" y="0"/>
                </a:lnTo>
                <a:close/>
              </a:path>
            </a:pathLst>
          </a:custGeom>
          <a:solidFill>
            <a:srgbClr val="FFFFFF"/>
          </a:solidFill>
          <a:ln>
            <a:noFill/>
          </a:ln>
        </p:spPr>
        <p:txBody>
          <a:bodyPr anchorCtr="0" anchor="ctr" bIns="48225" lIns="96825" spcFirstLastPara="1" rIns="96825" wrap="square" tIns="48225">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 name="Google Shape;5;n"/>
          <p:cNvSpPr txBox="1"/>
          <p:nvPr/>
        </p:nvSpPr>
        <p:spPr>
          <a:xfrm>
            <a:off x="0" y="0"/>
            <a:ext cx="3170237" cy="479425"/>
          </a:xfrm>
          <a:prstGeom prst="rect">
            <a:avLst/>
          </a:prstGeom>
          <a:noFill/>
          <a:ln>
            <a:noFill/>
          </a:ln>
        </p:spPr>
        <p:txBody>
          <a:bodyPr anchorCtr="0" anchor="ctr" bIns="48225" lIns="96825" spcFirstLastPara="1" rIns="96825" wrap="square" tIns="48225">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6" name="Google Shape;6;n"/>
          <p:cNvSpPr txBox="1"/>
          <p:nvPr>
            <p:ph idx="10" type="dt"/>
          </p:nvPr>
        </p:nvSpPr>
        <p:spPr>
          <a:xfrm>
            <a:off x="4143375" y="0"/>
            <a:ext cx="3168650" cy="477837"/>
          </a:xfrm>
          <a:prstGeom prst="rect">
            <a:avLst/>
          </a:prstGeom>
          <a:noFill/>
          <a:ln>
            <a:noFill/>
          </a:ln>
        </p:spPr>
        <p:txBody>
          <a:bodyPr anchorCtr="0" anchor="t" bIns="49300" lIns="95025" spcFirstLastPara="1" rIns="95025" wrap="square" tIns="49300">
            <a:noAutofit/>
          </a:bodyPr>
          <a:lstStyle>
            <a:lvl1pPr lvl="0" marR="0" rtl="0" algn="l">
              <a:lnSpc>
                <a:spcPct val="100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7" name="Google Shape;7;n"/>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a:noFill/>
          <a:ln cap="flat" cmpd="sng" w="12600">
            <a:solidFill>
              <a:srgbClr val="000000"/>
            </a:solidFill>
            <a:prstDash val="solid"/>
            <a:miter lim="800000"/>
            <a:headEnd len="sm" w="sm" type="none"/>
            <a:tailEnd len="sm" w="sm" type="none"/>
          </a:ln>
        </p:spPr>
      </p:sp>
      <p:sp>
        <p:nvSpPr>
          <p:cNvPr id="8" name="Google Shape;8;n"/>
          <p:cNvSpPr txBox="1"/>
          <p:nvPr>
            <p:ph idx="1" type="body"/>
          </p:nvPr>
        </p:nvSpPr>
        <p:spPr>
          <a:xfrm>
            <a:off x="731837" y="4560887"/>
            <a:ext cx="5849937" cy="4318000"/>
          </a:xfrm>
          <a:prstGeom prst="rect">
            <a:avLst/>
          </a:prstGeom>
          <a:noFill/>
          <a:ln>
            <a:noFill/>
          </a:ln>
        </p:spPr>
        <p:txBody>
          <a:bodyPr anchorCtr="0" anchor="t" bIns="49300" lIns="95025" spcFirstLastPara="1" rIns="95025" wrap="square" tIns="493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 name="Google Shape;9;n"/>
          <p:cNvSpPr txBox="1"/>
          <p:nvPr/>
        </p:nvSpPr>
        <p:spPr>
          <a:xfrm>
            <a:off x="0" y="9120187"/>
            <a:ext cx="3170237" cy="479425"/>
          </a:xfrm>
          <a:prstGeom prst="rect">
            <a:avLst/>
          </a:prstGeom>
          <a:noFill/>
          <a:ln>
            <a:noFill/>
          </a:ln>
        </p:spPr>
        <p:txBody>
          <a:bodyPr anchorCtr="0" anchor="ctr" bIns="48225" lIns="96825" spcFirstLastPara="1" rIns="96825" wrap="square" tIns="48225">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0" name="Google Shape;10;n"/>
          <p:cNvSpPr txBox="1"/>
          <p:nvPr>
            <p:ph idx="12" type="sldNum"/>
          </p:nvPr>
        </p:nvSpPr>
        <p:spPr>
          <a:xfrm>
            <a:off x="4143375" y="9120187"/>
            <a:ext cx="3168650" cy="477837"/>
          </a:xfrm>
          <a:prstGeom prst="rect">
            <a:avLst/>
          </a:prstGeom>
          <a:noFill/>
          <a:ln>
            <a:noFill/>
          </a:ln>
        </p:spPr>
        <p:txBody>
          <a:bodyPr anchorCtr="0" anchor="b" bIns="49300" lIns="95025" spcFirstLastPara="1" rIns="95025" wrap="square" tIns="49300">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txBox="1"/>
          <p:nvPr/>
        </p:nvSpPr>
        <p:spPr>
          <a:xfrm>
            <a:off x="4143375" y="9120187"/>
            <a:ext cx="3168650" cy="477837"/>
          </a:xfrm>
          <a:prstGeom prst="rect">
            <a:avLst/>
          </a:prstGeom>
          <a:noFill/>
          <a:ln>
            <a:noFill/>
          </a:ln>
        </p:spPr>
        <p:txBody>
          <a:bodyPr anchorCtr="0" anchor="b" bIns="49300" lIns="95025" spcFirstLastPara="1" rIns="95025" wrap="square" tIns="49300">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a:solidFill>
                  <a:srgbClr val="000000"/>
                </a:solidFill>
                <a:latin typeface="Calibri"/>
                <a:ea typeface="Calibri"/>
                <a:cs typeface="Calibri"/>
                <a:sym typeface="Calibri"/>
              </a:rPr>
              <a:t>‹#›</a:t>
            </a:fld>
            <a:endParaRPr/>
          </a:p>
        </p:txBody>
      </p:sp>
      <p:sp>
        <p:nvSpPr>
          <p:cNvPr id="49" name="Google Shape;49;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1:notes"/>
          <p:cNvSpPr txBox="1"/>
          <p:nvPr>
            <p:ph idx="1" type="body"/>
          </p:nvPr>
        </p:nvSpPr>
        <p:spPr>
          <a:xfrm>
            <a:off x="731837" y="4560887"/>
            <a:ext cx="5851525" cy="431958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63" name="Google Shape;63;p2: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74" name="Google Shape;74;p3: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83" name="Google Shape;83;p4: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92" name="Google Shape;92;p5: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101" name="Google Shape;101;p6: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110" name="Google Shape;110;p7: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119" name="Google Shape;119;p8: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128" name="Google Shape;128;p9: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146" name="Google Shape;146;p11: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txBox="1"/>
          <p:nvPr>
            <p:ph idx="1" type="body"/>
          </p:nvPr>
        </p:nvSpPr>
        <p:spPr>
          <a:xfrm>
            <a:off x="731837" y="4560887"/>
            <a:ext cx="5849937" cy="4318000"/>
          </a:xfrm>
          <a:prstGeom prst="rect">
            <a:avLst/>
          </a:prstGeom>
        </p:spPr>
        <p:txBody>
          <a:bodyPr anchorCtr="0" anchor="t" bIns="49300" lIns="95025" spcFirstLastPara="1" rIns="95025" wrap="square" tIns="49300">
            <a:noAutofit/>
          </a:bodyPr>
          <a:lstStyle/>
          <a:p>
            <a:pPr indent="0" lvl="0" marL="0" rtl="0" algn="l">
              <a:spcBef>
                <a:spcPts val="0"/>
              </a:spcBef>
              <a:spcAft>
                <a:spcPts val="0"/>
              </a:spcAft>
              <a:buNone/>
            </a:pPr>
            <a:r>
              <a:t/>
            </a:r>
            <a:endParaRPr/>
          </a:p>
        </p:txBody>
      </p:sp>
      <p:sp>
        <p:nvSpPr>
          <p:cNvPr id="164" name="Google Shape;164;p13:notes"/>
          <p:cNvSpPr/>
          <p:nvPr>
            <p:ph idx="2" type="sldImg"/>
          </p:nvPr>
        </p:nvSpPr>
        <p:spPr>
          <a:xfrm>
            <a:off x="1257300" y="720725"/>
            <a:ext cx="4799012" cy="35988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3" type="blank">
  <p:cSld name="BLANK">
    <p:spTree>
      <p:nvGrpSpPr>
        <p:cNvPr id="17" name="Shape 17"/>
        <p:cNvGrpSpPr/>
        <p:nvPr/>
      </p:nvGrpSpPr>
      <p:grpSpPr>
        <a:xfrm>
          <a:off x="0" y="0"/>
          <a:ext cx="0" cy="0"/>
          <a:chOff x="0" y="0"/>
          <a:chExt cx="0" cy="0"/>
        </a:xfrm>
      </p:grpSpPr>
      <p:sp>
        <p:nvSpPr>
          <p:cNvPr id="18" name="Google Shape;18;p2"/>
          <p:cNvSpPr txBox="1"/>
          <p:nvPr>
            <p:ph idx="11" type="ftr"/>
          </p:nvPr>
        </p:nvSpPr>
        <p:spPr>
          <a:xfrm>
            <a:off x="3028950" y="6356350"/>
            <a:ext cx="3086100" cy="365125"/>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2" type="sldNum"/>
          </p:nvPr>
        </p:nvSpPr>
        <p:spPr>
          <a:xfrm>
            <a:off x="6457950" y="6356350"/>
            <a:ext cx="2057400" cy="365125"/>
          </a:xfrm>
          <a:prstGeom prst="rect">
            <a:avLst/>
          </a:prstGeom>
          <a:noFill/>
          <a:ln>
            <a:noFill/>
          </a:ln>
        </p:spPr>
        <p:txBody>
          <a:bodyPr anchorCtr="0" anchor="ctr" bIns="46800" lIns="90000" spcFirstLastPara="1" rIns="90000" wrap="square" tIns="468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2"/>
          <p:cNvSpPr txBox="1"/>
          <p:nvPr>
            <p:ph idx="10" type="dt"/>
          </p:nvPr>
        </p:nvSpPr>
        <p:spPr>
          <a:xfrm>
            <a:off x="628650" y="6356350"/>
            <a:ext cx="2057400" cy="365125"/>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5.jpg"/><Relationship Id="rId3"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theme" Target="../theme/theme3.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 name="Shape 11"/>
        <p:cNvGrpSpPr/>
        <p:nvPr/>
      </p:nvGrpSpPr>
      <p:grpSpPr>
        <a:xfrm>
          <a:off x="0" y="0"/>
          <a:ext cx="0" cy="0"/>
          <a:chOff x="0" y="0"/>
          <a:chExt cx="0" cy="0"/>
        </a:xfrm>
      </p:grpSpPr>
      <p:sp>
        <p:nvSpPr>
          <p:cNvPr id="12" name="Google Shape;12;p1"/>
          <p:cNvSpPr txBox="1"/>
          <p:nvPr>
            <p:ph type="title"/>
          </p:nvPr>
        </p:nvSpPr>
        <p:spPr>
          <a:xfrm>
            <a:off x="628650" y="365125"/>
            <a:ext cx="7886700" cy="1325562"/>
          </a:xfrm>
          <a:prstGeom prst="rect">
            <a:avLst/>
          </a:prstGeom>
          <a:noFill/>
          <a:ln>
            <a:noFill/>
          </a:ln>
        </p:spPr>
        <p:txBody>
          <a:bodyPr anchorCtr="0" anchor="ctr" bIns="46800" lIns="90000" spcFirstLastPara="1" rIns="90000" wrap="square" tIns="468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628650" y="1825625"/>
            <a:ext cx="7886700" cy="4351337"/>
          </a:xfrm>
          <a:prstGeom prst="rect">
            <a:avLst/>
          </a:prstGeom>
          <a:noFill/>
          <a:ln>
            <a:noFill/>
          </a:ln>
        </p:spPr>
        <p:txBody>
          <a:bodyPr anchorCtr="0" anchor="t" bIns="46800" lIns="90000" spcFirstLastPara="1" rIns="90000" wrap="square" tIns="468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1" type="ftr"/>
          </p:nvPr>
        </p:nvSpPr>
        <p:spPr>
          <a:xfrm>
            <a:off x="3028950" y="6356350"/>
            <a:ext cx="3086100" cy="365125"/>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1"/>
          <p:cNvSpPr txBox="1"/>
          <p:nvPr>
            <p:ph idx="12" type="sldNum"/>
          </p:nvPr>
        </p:nvSpPr>
        <p:spPr>
          <a:xfrm>
            <a:off x="6457950" y="6356350"/>
            <a:ext cx="2057400" cy="365125"/>
          </a:xfrm>
          <a:prstGeom prst="rect">
            <a:avLst/>
          </a:prstGeom>
          <a:noFill/>
          <a:ln>
            <a:noFill/>
          </a:ln>
        </p:spPr>
        <p:txBody>
          <a:bodyPr anchorCtr="0" anchor="ctr" bIns="46800" lIns="90000" spcFirstLastPara="1" rIns="90000" wrap="square" tIns="468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16" name="Google Shape;16;p1"/>
          <p:cNvSpPr txBox="1"/>
          <p:nvPr>
            <p:ph idx="10" type="dt"/>
          </p:nvPr>
        </p:nvSpPr>
        <p:spPr>
          <a:xfrm>
            <a:off x="628650" y="6356350"/>
            <a:ext cx="2057400" cy="365125"/>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1" name="Shape 21"/>
        <p:cNvGrpSpPr/>
        <p:nvPr/>
      </p:nvGrpSpPr>
      <p:grpSpPr>
        <a:xfrm>
          <a:off x="0" y="0"/>
          <a:ext cx="0" cy="0"/>
          <a:chOff x="0" y="0"/>
          <a:chExt cx="0" cy="0"/>
        </a:xfrm>
      </p:grpSpPr>
      <p:sp>
        <p:nvSpPr>
          <p:cNvPr id="22" name="Google Shape;22;p3"/>
          <p:cNvSpPr txBox="1"/>
          <p:nvPr>
            <p:ph type="title"/>
          </p:nvPr>
        </p:nvSpPr>
        <p:spPr>
          <a:xfrm>
            <a:off x="628650" y="365125"/>
            <a:ext cx="7886700" cy="1325562"/>
          </a:xfrm>
          <a:prstGeom prst="rect">
            <a:avLst/>
          </a:prstGeom>
          <a:noFill/>
          <a:ln>
            <a:noFill/>
          </a:ln>
        </p:spPr>
        <p:txBody>
          <a:bodyPr anchorCtr="0" anchor="ctr" bIns="46800" lIns="90000" spcFirstLastPara="1" rIns="90000" wrap="square" tIns="468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 name="Google Shape;23;p3"/>
          <p:cNvSpPr txBox="1"/>
          <p:nvPr>
            <p:ph idx="1" type="body"/>
          </p:nvPr>
        </p:nvSpPr>
        <p:spPr>
          <a:xfrm>
            <a:off x="628650" y="1825625"/>
            <a:ext cx="7886700" cy="4351337"/>
          </a:xfrm>
          <a:prstGeom prst="rect">
            <a:avLst/>
          </a:prstGeom>
          <a:noFill/>
          <a:ln>
            <a:noFill/>
          </a:ln>
        </p:spPr>
        <p:txBody>
          <a:bodyPr anchorCtr="0" anchor="t" bIns="46800" lIns="90000" spcFirstLastPara="1" rIns="90000" wrap="square" tIns="468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4" name="Google Shape;24;p3"/>
          <p:cNvSpPr txBox="1"/>
          <p:nvPr>
            <p:ph idx="10" type="dt"/>
          </p:nvPr>
        </p:nvSpPr>
        <p:spPr>
          <a:xfrm>
            <a:off x="628650" y="6356350"/>
            <a:ext cx="2057400" cy="365125"/>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5" name="Google Shape;25;p3"/>
          <p:cNvSpPr txBox="1"/>
          <p:nvPr>
            <p:ph idx="11" type="ftr"/>
          </p:nvPr>
        </p:nvSpPr>
        <p:spPr>
          <a:xfrm>
            <a:off x="3028950" y="6356350"/>
            <a:ext cx="3086100" cy="365125"/>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 name="Google Shape;26;p3"/>
          <p:cNvSpPr txBox="1"/>
          <p:nvPr>
            <p:ph idx="12" type="sldNum"/>
          </p:nvPr>
        </p:nvSpPr>
        <p:spPr>
          <a:xfrm>
            <a:off x="6457950" y="6356350"/>
            <a:ext cx="2057400" cy="365125"/>
          </a:xfrm>
          <a:prstGeom prst="rect">
            <a:avLst/>
          </a:prstGeom>
          <a:noFill/>
          <a:ln>
            <a:noFill/>
          </a:ln>
        </p:spPr>
        <p:txBody>
          <a:bodyPr anchorCtr="0" anchor="ctr" bIns="46800" lIns="90000" spcFirstLastPara="1" rIns="90000" wrap="square" tIns="468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7" name="Shape 27"/>
        <p:cNvGrpSpPr/>
        <p:nvPr/>
      </p:nvGrpSpPr>
      <p:grpSpPr>
        <a:xfrm>
          <a:off x="0" y="0"/>
          <a:ext cx="0" cy="0"/>
          <a:chOff x="0" y="0"/>
          <a:chExt cx="0" cy="0"/>
        </a:xfrm>
      </p:grpSpPr>
      <p:pic>
        <p:nvPicPr>
          <p:cNvPr id="28" name="Google Shape;28;p4"/>
          <p:cNvPicPr preferRelativeResize="0"/>
          <p:nvPr/>
        </p:nvPicPr>
        <p:blipFill rotWithShape="1">
          <a:blip r:embed="rId2">
            <a:alphaModFix/>
          </a:blip>
          <a:srcRect b="0" l="0" r="0" t="0"/>
          <a:stretch/>
        </p:blipFill>
        <p:spPr>
          <a:xfrm>
            <a:off x="7524750" y="136525"/>
            <a:ext cx="1470025" cy="1470025"/>
          </a:xfrm>
          <a:prstGeom prst="rect">
            <a:avLst/>
          </a:prstGeom>
          <a:noFill/>
          <a:ln>
            <a:noFill/>
          </a:ln>
        </p:spPr>
      </p:pic>
      <p:sp>
        <p:nvSpPr>
          <p:cNvPr id="29" name="Google Shape;29;p4"/>
          <p:cNvSpPr txBox="1"/>
          <p:nvPr>
            <p:ph type="title"/>
          </p:nvPr>
        </p:nvSpPr>
        <p:spPr>
          <a:xfrm>
            <a:off x="628650" y="365125"/>
            <a:ext cx="7886700" cy="1325562"/>
          </a:xfrm>
          <a:prstGeom prst="rect">
            <a:avLst/>
          </a:prstGeom>
          <a:noFill/>
          <a:ln>
            <a:noFill/>
          </a:ln>
        </p:spPr>
        <p:txBody>
          <a:bodyPr anchorCtr="0" anchor="ctr" bIns="46800" lIns="90000" spcFirstLastPara="1" rIns="90000" wrap="square" tIns="468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4"/>
          <p:cNvSpPr txBox="1"/>
          <p:nvPr>
            <p:ph idx="1" type="body"/>
          </p:nvPr>
        </p:nvSpPr>
        <p:spPr>
          <a:xfrm>
            <a:off x="628650" y="1825625"/>
            <a:ext cx="7886700" cy="4351337"/>
          </a:xfrm>
          <a:prstGeom prst="rect">
            <a:avLst/>
          </a:prstGeom>
          <a:noFill/>
          <a:ln>
            <a:noFill/>
          </a:ln>
        </p:spPr>
        <p:txBody>
          <a:bodyPr anchorCtr="0" anchor="t" bIns="46800" lIns="90000" spcFirstLastPara="1" rIns="90000" wrap="square" tIns="468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1" name="Google Shape;31;p4"/>
          <p:cNvSpPr txBox="1"/>
          <p:nvPr>
            <p:ph idx="10" type="dt"/>
          </p:nvPr>
        </p:nvSpPr>
        <p:spPr>
          <a:xfrm>
            <a:off x="628650" y="6356350"/>
            <a:ext cx="2057400" cy="365125"/>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 name="Google Shape;32;p4"/>
          <p:cNvSpPr txBox="1"/>
          <p:nvPr>
            <p:ph idx="11" type="ftr"/>
          </p:nvPr>
        </p:nvSpPr>
        <p:spPr>
          <a:xfrm>
            <a:off x="3028950" y="6356350"/>
            <a:ext cx="3086100" cy="365125"/>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3" name="Google Shape;33;p4"/>
          <p:cNvSpPr txBox="1"/>
          <p:nvPr>
            <p:ph idx="12" type="sldNum"/>
          </p:nvPr>
        </p:nvSpPr>
        <p:spPr>
          <a:xfrm>
            <a:off x="6457950" y="6356350"/>
            <a:ext cx="2057400" cy="365125"/>
          </a:xfrm>
          <a:prstGeom prst="rect">
            <a:avLst/>
          </a:prstGeom>
          <a:noFill/>
          <a:ln>
            <a:noFill/>
          </a:ln>
        </p:spPr>
        <p:txBody>
          <a:bodyPr anchorCtr="0" anchor="ctr" bIns="46800" lIns="90000" spcFirstLastPara="1" rIns="90000" wrap="square" tIns="468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4" name="Shape 34"/>
        <p:cNvGrpSpPr/>
        <p:nvPr/>
      </p:nvGrpSpPr>
      <p:grpSpPr>
        <a:xfrm>
          <a:off x="0" y="0"/>
          <a:ext cx="0" cy="0"/>
          <a:chOff x="0" y="0"/>
          <a:chExt cx="0" cy="0"/>
        </a:xfrm>
      </p:grpSpPr>
      <p:sp>
        <p:nvSpPr>
          <p:cNvPr id="35" name="Google Shape;35;p5"/>
          <p:cNvSpPr txBox="1"/>
          <p:nvPr/>
        </p:nvSpPr>
        <p:spPr>
          <a:xfrm>
            <a:off x="250825" y="6354762"/>
            <a:ext cx="4572000" cy="312737"/>
          </a:xfrm>
          <a:prstGeom prst="rect">
            <a:avLst/>
          </a:prstGeom>
          <a:noFill/>
          <a:ln>
            <a:noFill/>
          </a:ln>
        </p:spPr>
        <p:txBody>
          <a:bodyPr anchorCtr="0" anchor="t" bIns="46800" lIns="90000" spcFirstLastPara="1" rIns="90000" wrap="square" tIns="46800">
            <a:spAutoFit/>
          </a:bodyPr>
          <a:lstStyle/>
          <a:p>
            <a:pPr indent="0" lvl="0" marL="0" marR="0" rtl="0" algn="l">
              <a:lnSpc>
                <a:spcPct val="80000"/>
              </a:lnSpc>
              <a:spcBef>
                <a:spcPts val="0"/>
              </a:spcBef>
              <a:spcAft>
                <a:spcPts val="0"/>
              </a:spcAft>
              <a:buClr>
                <a:srgbClr val="FF0000"/>
              </a:buClr>
              <a:buSzPts val="1800"/>
              <a:buFont typeface="Times New Roman"/>
              <a:buNone/>
            </a:pPr>
            <a:r>
              <a:rPr b="1" i="0" lang="en-US" sz="1800" u="none">
                <a:solidFill>
                  <a:srgbClr val="FF0000"/>
                </a:solidFill>
                <a:latin typeface="Times New Roman"/>
                <a:ea typeface="Times New Roman"/>
                <a:cs typeface="Times New Roman"/>
                <a:sym typeface="Times New Roman"/>
              </a:rPr>
              <a:t>ICSAICS-2026</a:t>
            </a:r>
            <a:endParaRPr/>
          </a:p>
        </p:txBody>
      </p:sp>
      <p:sp>
        <p:nvSpPr>
          <p:cNvPr id="36" name="Google Shape;36;p5"/>
          <p:cNvSpPr txBox="1"/>
          <p:nvPr>
            <p:ph type="title"/>
          </p:nvPr>
        </p:nvSpPr>
        <p:spPr>
          <a:xfrm>
            <a:off x="628650" y="365125"/>
            <a:ext cx="7886700" cy="1325562"/>
          </a:xfrm>
          <a:prstGeom prst="rect">
            <a:avLst/>
          </a:prstGeom>
          <a:noFill/>
          <a:ln>
            <a:noFill/>
          </a:ln>
        </p:spPr>
        <p:txBody>
          <a:bodyPr anchorCtr="0" anchor="ctr" bIns="46800" lIns="90000" spcFirstLastPara="1" rIns="90000" wrap="square" tIns="468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5"/>
          <p:cNvSpPr txBox="1"/>
          <p:nvPr>
            <p:ph idx="1" type="body"/>
          </p:nvPr>
        </p:nvSpPr>
        <p:spPr>
          <a:xfrm>
            <a:off x="628650" y="1825625"/>
            <a:ext cx="7886700" cy="4351337"/>
          </a:xfrm>
          <a:prstGeom prst="rect">
            <a:avLst/>
          </a:prstGeom>
          <a:noFill/>
          <a:ln>
            <a:noFill/>
          </a:ln>
        </p:spPr>
        <p:txBody>
          <a:bodyPr anchorCtr="0" anchor="t" bIns="46800" lIns="90000" spcFirstLastPara="1" rIns="90000" wrap="square" tIns="468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5"/>
          <p:cNvSpPr txBox="1"/>
          <p:nvPr>
            <p:ph idx="10" type="dt"/>
          </p:nvPr>
        </p:nvSpPr>
        <p:spPr>
          <a:xfrm>
            <a:off x="628650" y="6356350"/>
            <a:ext cx="2057400" cy="365125"/>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9" name="Google Shape;39;p5"/>
          <p:cNvSpPr txBox="1"/>
          <p:nvPr>
            <p:ph idx="11" type="ftr"/>
          </p:nvPr>
        </p:nvSpPr>
        <p:spPr>
          <a:xfrm>
            <a:off x="3028950" y="6356350"/>
            <a:ext cx="3086100" cy="365125"/>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0" name="Google Shape;40;p5"/>
          <p:cNvSpPr txBox="1"/>
          <p:nvPr>
            <p:ph idx="12" type="sldNum"/>
          </p:nvPr>
        </p:nvSpPr>
        <p:spPr>
          <a:xfrm>
            <a:off x="6457950" y="6356350"/>
            <a:ext cx="2057400" cy="365125"/>
          </a:xfrm>
          <a:prstGeom prst="rect">
            <a:avLst/>
          </a:prstGeom>
          <a:noFill/>
          <a:ln>
            <a:noFill/>
          </a:ln>
        </p:spPr>
        <p:txBody>
          <a:bodyPr anchorCtr="0" anchor="ctr" bIns="46800" lIns="90000" spcFirstLastPara="1" rIns="90000" wrap="square" tIns="468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41" name="Shape 41"/>
        <p:cNvGrpSpPr/>
        <p:nvPr/>
      </p:nvGrpSpPr>
      <p:grpSpPr>
        <a:xfrm>
          <a:off x="0" y="0"/>
          <a:ext cx="0" cy="0"/>
          <a:chOff x="0" y="0"/>
          <a:chExt cx="0" cy="0"/>
        </a:xfrm>
      </p:grpSpPr>
      <p:sp>
        <p:nvSpPr>
          <p:cNvPr id="42" name="Google Shape;42;p6"/>
          <p:cNvSpPr txBox="1"/>
          <p:nvPr>
            <p:ph type="title"/>
          </p:nvPr>
        </p:nvSpPr>
        <p:spPr>
          <a:xfrm>
            <a:off x="628650" y="365125"/>
            <a:ext cx="7886700" cy="1325562"/>
          </a:xfrm>
          <a:prstGeom prst="rect">
            <a:avLst/>
          </a:prstGeom>
          <a:noFill/>
          <a:ln>
            <a:noFill/>
          </a:ln>
        </p:spPr>
        <p:txBody>
          <a:bodyPr anchorCtr="0" anchor="ctr" bIns="46800" lIns="90000" spcFirstLastPara="1" rIns="90000" wrap="square" tIns="468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3" name="Google Shape;43;p6"/>
          <p:cNvSpPr txBox="1"/>
          <p:nvPr>
            <p:ph idx="1" type="body"/>
          </p:nvPr>
        </p:nvSpPr>
        <p:spPr>
          <a:xfrm>
            <a:off x="628650" y="1825625"/>
            <a:ext cx="7886700" cy="4351337"/>
          </a:xfrm>
          <a:prstGeom prst="rect">
            <a:avLst/>
          </a:prstGeom>
          <a:noFill/>
          <a:ln>
            <a:noFill/>
          </a:ln>
        </p:spPr>
        <p:txBody>
          <a:bodyPr anchorCtr="0" anchor="t" bIns="46800" lIns="90000" spcFirstLastPara="1" rIns="90000" wrap="square" tIns="468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4" name="Google Shape;44;p6"/>
          <p:cNvSpPr txBox="1"/>
          <p:nvPr>
            <p:ph idx="10" type="dt"/>
          </p:nvPr>
        </p:nvSpPr>
        <p:spPr>
          <a:xfrm>
            <a:off x="628650" y="6356350"/>
            <a:ext cx="2057400" cy="365125"/>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5" name="Google Shape;45;p6"/>
          <p:cNvSpPr txBox="1"/>
          <p:nvPr>
            <p:ph idx="11" type="ftr"/>
          </p:nvPr>
        </p:nvSpPr>
        <p:spPr>
          <a:xfrm>
            <a:off x="3028950" y="6356350"/>
            <a:ext cx="3086100" cy="365125"/>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6" name="Google Shape;46;p6"/>
          <p:cNvSpPr txBox="1"/>
          <p:nvPr>
            <p:ph idx="12" type="sldNum"/>
          </p:nvPr>
        </p:nvSpPr>
        <p:spPr>
          <a:xfrm>
            <a:off x="6457950" y="6356350"/>
            <a:ext cx="2057400" cy="365125"/>
          </a:xfrm>
          <a:prstGeom prst="rect">
            <a:avLst/>
          </a:prstGeom>
          <a:noFill/>
          <a:ln>
            <a:noFill/>
          </a:ln>
        </p:spPr>
        <p:txBody>
          <a:bodyPr anchorCtr="0" anchor="ctr" bIns="46800" lIns="90000" spcFirstLastPara="1" rIns="90000" wrap="square" tIns="468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7"/>
          <p:cNvSpPr txBox="1"/>
          <p:nvPr/>
        </p:nvSpPr>
        <p:spPr>
          <a:xfrm>
            <a:off x="2322512" y="3178175"/>
            <a:ext cx="4994275" cy="466725"/>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2500"/>
              <a:buFont typeface="Lustria"/>
              <a:buNone/>
            </a:pPr>
            <a:r>
              <a:rPr b="0" i="0" lang="en-US" sz="2500" u="none">
                <a:solidFill>
                  <a:srgbClr val="000000"/>
                </a:solidFill>
                <a:latin typeface="Lustria"/>
                <a:ea typeface="Lustria"/>
                <a:cs typeface="Lustria"/>
                <a:sym typeface="Lustria"/>
              </a:rPr>
              <a:t>Event Sphere: A Unified Academic Event Aggregation Portal</a:t>
            </a:r>
            <a:endParaRPr/>
          </a:p>
        </p:txBody>
      </p:sp>
      <p:sp>
        <p:nvSpPr>
          <p:cNvPr id="53" name="Google Shape;53;p7"/>
          <p:cNvSpPr txBox="1"/>
          <p:nvPr/>
        </p:nvSpPr>
        <p:spPr>
          <a:xfrm>
            <a:off x="250825" y="6453187"/>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pic>
        <p:nvPicPr>
          <p:cNvPr id="54" name="Google Shape;54;p7"/>
          <p:cNvPicPr preferRelativeResize="0"/>
          <p:nvPr/>
        </p:nvPicPr>
        <p:blipFill rotWithShape="1">
          <a:blip r:embed="rId3">
            <a:alphaModFix/>
          </a:blip>
          <a:srcRect b="0" l="0" r="0" t="0"/>
          <a:stretch/>
        </p:blipFill>
        <p:spPr>
          <a:xfrm>
            <a:off x="23812" y="312737"/>
            <a:ext cx="1893887" cy="674687"/>
          </a:xfrm>
          <a:prstGeom prst="rect">
            <a:avLst/>
          </a:prstGeom>
          <a:noFill/>
          <a:ln>
            <a:noFill/>
          </a:ln>
        </p:spPr>
      </p:pic>
      <p:sp>
        <p:nvSpPr>
          <p:cNvPr id="55" name="Google Shape;55;p7"/>
          <p:cNvSpPr txBox="1"/>
          <p:nvPr/>
        </p:nvSpPr>
        <p:spPr>
          <a:xfrm>
            <a:off x="1784350" y="-242887"/>
            <a:ext cx="6016625" cy="2049462"/>
          </a:xfrm>
          <a:prstGeom prst="rect">
            <a:avLst/>
          </a:prstGeom>
          <a:noFill/>
          <a:ln>
            <a:noFill/>
          </a:ln>
        </p:spPr>
        <p:txBody>
          <a:bodyPr anchorCtr="0" anchor="t" bIns="46800" lIns="90000" spcFirstLastPara="1" rIns="90000" wrap="square" tIns="46800">
            <a:normAutofit/>
          </a:bodyPr>
          <a:lstStyle/>
          <a:p>
            <a:pPr indent="0" lvl="0" marL="0" marR="0" rtl="0" algn="ctr">
              <a:lnSpc>
                <a:spcPct val="100000"/>
              </a:lnSpc>
              <a:spcBef>
                <a:spcPts val="0"/>
              </a:spcBef>
              <a:spcAft>
                <a:spcPts val="0"/>
              </a:spcAft>
              <a:buClr>
                <a:schemeClr val="dk1"/>
              </a:buClr>
              <a:buSzPts val="2100"/>
              <a:buFont typeface="Arial"/>
              <a:buNone/>
            </a:pPr>
            <a:br>
              <a:rPr b="0" i="0" lang="en-US" sz="2100" u="none">
                <a:solidFill>
                  <a:schemeClr val="dk1"/>
                </a:solidFill>
                <a:latin typeface="Arial"/>
                <a:ea typeface="Arial"/>
                <a:cs typeface="Arial"/>
                <a:sym typeface="Arial"/>
              </a:rPr>
            </a:br>
            <a:r>
              <a:rPr b="1" i="0" lang="en-US" sz="2100" u="none">
                <a:solidFill>
                  <a:srgbClr val="000000"/>
                </a:solidFill>
                <a:latin typeface="Times New Roman"/>
                <a:ea typeface="Times New Roman"/>
                <a:cs typeface="Times New Roman"/>
                <a:sym typeface="Times New Roman"/>
              </a:rPr>
              <a:t>International Conference on Sustainable AI for Cybersecurity (ICSAICS-2026)</a:t>
            </a:r>
            <a:endParaRPr b="0" i="0" sz="2100" u="non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2100"/>
              <a:buFont typeface="Arial"/>
              <a:buNone/>
            </a:pPr>
            <a:br>
              <a:rPr b="0" i="0" lang="en-US" sz="2100" u="none">
                <a:solidFill>
                  <a:schemeClr val="dk1"/>
                </a:solidFill>
                <a:latin typeface="Arial"/>
                <a:ea typeface="Arial"/>
                <a:cs typeface="Arial"/>
                <a:sym typeface="Arial"/>
              </a:rPr>
            </a:br>
            <a:endParaRPr b="0" i="0" sz="2100" u="non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100"/>
              <a:buFont typeface="Calibri"/>
              <a:buNone/>
            </a:pPr>
            <a:r>
              <a:rPr b="0" i="0" lang="en-US" sz="2100" u="none">
                <a:solidFill>
                  <a:srgbClr val="000000"/>
                </a:solidFill>
                <a:latin typeface="Calibri"/>
                <a:ea typeface="Calibri"/>
                <a:cs typeface="Calibri"/>
                <a:sym typeface="Calibri"/>
              </a:rPr>
              <a:t> </a:t>
            </a:r>
            <a:endParaRPr/>
          </a:p>
        </p:txBody>
      </p:sp>
      <p:sp>
        <p:nvSpPr>
          <p:cNvPr id="56" name="Google Shape;56;p7"/>
          <p:cNvSpPr txBox="1"/>
          <p:nvPr/>
        </p:nvSpPr>
        <p:spPr>
          <a:xfrm>
            <a:off x="3876675" y="3913187"/>
            <a:ext cx="1884362" cy="415925"/>
          </a:xfrm>
          <a:prstGeom prst="rect">
            <a:avLst/>
          </a:prstGeom>
          <a:solidFill>
            <a:srgbClr val="E2F0D9"/>
          </a:solidFill>
          <a:ln cap="flat" cmpd="sng" w="9525">
            <a:solidFill>
              <a:srgbClr val="4472C4"/>
            </a:solidFill>
            <a:prstDash val="solid"/>
            <a:miter lim="800000"/>
            <a:headEnd len="sm" w="sm" type="none"/>
            <a:tailEnd len="sm" w="sm" type="none"/>
          </a:ln>
        </p:spPr>
        <p:txBody>
          <a:bodyPr anchorCtr="0" anchor="ctr" bIns="38875" lIns="77750" spcFirstLastPara="1" rIns="77750" wrap="square" tIns="38875">
            <a:noAutofit/>
          </a:bodyPr>
          <a:lstStyle/>
          <a:p>
            <a:pPr indent="0" lvl="0" marL="0" marR="0" rtl="0" algn="ctr">
              <a:lnSpc>
                <a:spcPct val="115000"/>
              </a:lnSpc>
              <a:spcBef>
                <a:spcPts val="0"/>
              </a:spcBef>
              <a:spcAft>
                <a:spcPts val="0"/>
              </a:spcAft>
              <a:buClr>
                <a:srgbClr val="548235"/>
              </a:buClr>
              <a:buSzPts val="1800"/>
              <a:buFont typeface="Times New Roman"/>
              <a:buNone/>
            </a:pPr>
            <a:r>
              <a:rPr b="1" i="0" lang="en-US" sz="1800" u="none">
                <a:solidFill>
                  <a:srgbClr val="548235"/>
                </a:solidFill>
                <a:latin typeface="Times New Roman"/>
                <a:ea typeface="Times New Roman"/>
                <a:cs typeface="Times New Roman"/>
                <a:sym typeface="Times New Roman"/>
              </a:rPr>
              <a:t>(Paper ID: </a:t>
            </a:r>
            <a:r>
              <a:rPr b="1" lang="en-US" sz="1800">
                <a:solidFill>
                  <a:srgbClr val="548235"/>
                </a:solidFill>
                <a:latin typeface="Times New Roman"/>
                <a:ea typeface="Times New Roman"/>
                <a:cs typeface="Times New Roman"/>
                <a:sym typeface="Times New Roman"/>
              </a:rPr>
              <a:t>213</a:t>
            </a:r>
            <a:endParaRPr/>
          </a:p>
        </p:txBody>
      </p:sp>
      <p:sp>
        <p:nvSpPr>
          <p:cNvPr id="57" name="Google Shape;57;p7"/>
          <p:cNvSpPr txBox="1"/>
          <p:nvPr/>
        </p:nvSpPr>
        <p:spPr>
          <a:xfrm>
            <a:off x="1749425" y="5092700"/>
            <a:ext cx="6015037" cy="1068387"/>
          </a:xfrm>
          <a:prstGeom prst="rect">
            <a:avLst/>
          </a:prstGeom>
          <a:noFill/>
          <a:ln>
            <a:noFill/>
          </a:ln>
        </p:spPr>
        <p:txBody>
          <a:bodyPr anchorCtr="0" anchor="t" bIns="38875" lIns="77750" spcFirstLastPara="1" rIns="77750" wrap="square" tIns="38875">
            <a:spAutoFit/>
          </a:bodyPr>
          <a:lstStyle/>
          <a:p>
            <a:pPr indent="0" lvl="0" marL="0" marR="0" rtl="0" algn="ctr">
              <a:lnSpc>
                <a:spcPct val="100000"/>
              </a:lnSpc>
              <a:spcBef>
                <a:spcPts val="0"/>
              </a:spcBef>
              <a:spcAft>
                <a:spcPts val="0"/>
              </a:spcAft>
              <a:buClr>
                <a:srgbClr val="C00000"/>
              </a:buClr>
              <a:buSzPts val="2400"/>
              <a:buFont typeface="Arial"/>
              <a:buNone/>
            </a:pPr>
            <a:r>
              <a:rPr b="0" i="0" lang="en-US" sz="2400" u="none">
                <a:solidFill>
                  <a:srgbClr val="C00000"/>
                </a:solidFill>
                <a:latin typeface="Arial"/>
                <a:ea typeface="Arial"/>
                <a:cs typeface="Arial"/>
                <a:sym typeface="Arial"/>
              </a:rPr>
              <a:t>Harshita Mishra, Rishabh Gupta, Pulkit Kumar, Drishan Drishy</a:t>
            </a:r>
            <a:br>
              <a:rPr b="0" i="0" lang="en-US" sz="2400" u="none">
                <a:solidFill>
                  <a:schemeClr val="dk1"/>
                </a:solidFill>
                <a:latin typeface="Arial"/>
                <a:ea typeface="Arial"/>
                <a:cs typeface="Arial"/>
                <a:sym typeface="Arial"/>
              </a:rPr>
            </a:br>
            <a:r>
              <a:rPr b="0" i="0" lang="en-US" sz="1800" u="none">
                <a:solidFill>
                  <a:srgbClr val="000099"/>
                </a:solidFill>
                <a:latin typeface="Arial"/>
                <a:ea typeface="Arial"/>
                <a:cs typeface="Arial"/>
                <a:sym typeface="Arial"/>
              </a:rPr>
              <a:t>Dept. of CSE, KIET Group of Institutions, Ghaziabad | Guide: Mr. Omprakash Kushwaha</a:t>
            </a:r>
            <a:br>
              <a:rPr b="0" i="0" lang="en-US" sz="1800" u="none">
                <a:solidFill>
                  <a:schemeClr val="dk1"/>
                </a:solidFill>
                <a:latin typeface="Arial"/>
                <a:ea typeface="Arial"/>
                <a:cs typeface="Arial"/>
                <a:sym typeface="Arial"/>
              </a:rPr>
            </a:br>
            <a:r>
              <a:rPr b="0" i="0" lang="en-US" sz="900" u="none">
                <a:solidFill>
                  <a:srgbClr val="000099"/>
                </a:solidFill>
                <a:latin typeface="Arial"/>
                <a:ea typeface="Arial"/>
                <a:cs typeface="Arial"/>
                <a:sym typeface="Arial"/>
              </a:rPr>
              <a:t> </a:t>
            </a:r>
            <a:br>
              <a:rPr b="0" i="0" lang="en-US" sz="1800" u="none">
                <a:solidFill>
                  <a:schemeClr val="dk1"/>
                </a:solidFill>
                <a:latin typeface="Arial"/>
                <a:ea typeface="Arial"/>
                <a:cs typeface="Arial"/>
                <a:sym typeface="Arial"/>
              </a:rPr>
            </a:br>
            <a:r>
              <a:rPr b="0" i="0" lang="en-US" sz="1400" u="none">
                <a:solidFill>
                  <a:srgbClr val="00B050"/>
                </a:solidFill>
                <a:latin typeface="Arial"/>
                <a:ea typeface="Arial"/>
                <a:cs typeface="Arial"/>
                <a:sym typeface="Arial"/>
              </a:rPr>
              <a:t>April 8-9, 2026</a:t>
            </a:r>
            <a:endParaRPr/>
          </a:p>
        </p:txBody>
      </p:sp>
      <p:sp>
        <p:nvSpPr>
          <p:cNvPr id="58" name="Google Shape;58;p7"/>
          <p:cNvSpPr txBox="1"/>
          <p:nvPr/>
        </p:nvSpPr>
        <p:spPr>
          <a:xfrm>
            <a:off x="4556125" y="4583112"/>
            <a:ext cx="403225" cy="368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by</a:t>
            </a:r>
            <a:endParaRPr/>
          </a:p>
        </p:txBody>
      </p:sp>
      <p:sp>
        <p:nvSpPr>
          <p:cNvPr id="59" name="Google Shape;59;p7"/>
          <p:cNvSpPr txBox="1"/>
          <p:nvPr/>
        </p:nvSpPr>
        <p:spPr>
          <a:xfrm>
            <a:off x="1343025" y="1139825"/>
            <a:ext cx="6951662" cy="1922462"/>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000000"/>
              </a:buClr>
              <a:buSzPts val="2400"/>
              <a:buFont typeface="Times New Roman"/>
              <a:buNone/>
            </a:pPr>
            <a:r>
              <a:rPr b="1" i="0" lang="en-US" sz="2400" u="none">
                <a:solidFill>
                  <a:srgbClr val="000000"/>
                </a:solidFill>
                <a:latin typeface="Times New Roman"/>
                <a:ea typeface="Times New Roman"/>
                <a:cs typeface="Times New Roman"/>
                <a:sym typeface="Times New Roman"/>
              </a:rPr>
              <a:t>Organized by </a:t>
            </a:r>
            <a:endParaRPr b="0" i="0" sz="2400" u="non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Times New Roman"/>
              <a:buNone/>
            </a:pPr>
            <a:r>
              <a:rPr b="1" i="0" lang="en-US" sz="2400" u="none">
                <a:solidFill>
                  <a:srgbClr val="000000"/>
                </a:solidFill>
                <a:latin typeface="Times New Roman"/>
                <a:ea typeface="Times New Roman"/>
                <a:cs typeface="Times New Roman"/>
                <a:sym typeface="Times New Roman"/>
              </a:rPr>
              <a:t>Department of Computer Science and Engineering,</a:t>
            </a:r>
            <a:endParaRPr b="0" i="0" sz="2400" u="non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Times New Roman"/>
              <a:buNone/>
            </a:pPr>
            <a:r>
              <a:rPr b="1" i="0" lang="en-US" sz="2400" u="none">
                <a:solidFill>
                  <a:srgbClr val="000000"/>
                </a:solidFill>
                <a:latin typeface="Times New Roman"/>
                <a:ea typeface="Times New Roman"/>
                <a:cs typeface="Times New Roman"/>
                <a:sym typeface="Times New Roman"/>
              </a:rPr>
              <a:t>JIMS, Greater Noida</a:t>
            </a:r>
            <a:endParaRPr b="0" i="0" sz="2400" u="non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Times New Roman"/>
              <a:buNone/>
            </a:pPr>
            <a:r>
              <a:rPr b="1" i="0" lang="en-US" sz="2400" u="none">
                <a:solidFill>
                  <a:srgbClr val="000000"/>
                </a:solidFill>
                <a:latin typeface="Times New Roman"/>
                <a:ea typeface="Times New Roman"/>
                <a:cs typeface="Times New Roman"/>
                <a:sym typeface="Times New Roman"/>
              </a:rPr>
              <a:t>(8</a:t>
            </a:r>
            <a:r>
              <a:rPr b="1" baseline="30000" i="0" lang="en-US" sz="2400" u="none">
                <a:solidFill>
                  <a:srgbClr val="000000"/>
                </a:solidFill>
                <a:latin typeface="Times New Roman"/>
                <a:ea typeface="Times New Roman"/>
                <a:cs typeface="Times New Roman"/>
                <a:sym typeface="Times New Roman"/>
              </a:rPr>
              <a:t>th</a:t>
            </a:r>
            <a:r>
              <a:rPr b="1" i="0" lang="en-US" sz="2400" u="none">
                <a:solidFill>
                  <a:srgbClr val="000000"/>
                </a:solidFill>
                <a:latin typeface="Times New Roman"/>
                <a:ea typeface="Times New Roman"/>
                <a:cs typeface="Times New Roman"/>
                <a:sym typeface="Times New Roman"/>
              </a:rPr>
              <a:t> &amp; 9</a:t>
            </a:r>
            <a:r>
              <a:rPr b="1" baseline="30000" i="0" lang="en-US" sz="2400" u="none">
                <a:solidFill>
                  <a:srgbClr val="000000"/>
                </a:solidFill>
                <a:latin typeface="Times New Roman"/>
                <a:ea typeface="Times New Roman"/>
                <a:cs typeface="Times New Roman"/>
                <a:sym typeface="Times New Roman"/>
              </a:rPr>
              <a:t>th</a:t>
            </a:r>
            <a:r>
              <a:rPr b="1" i="0" lang="en-US" sz="2400" u="none">
                <a:solidFill>
                  <a:srgbClr val="000000"/>
                </a:solidFill>
                <a:latin typeface="Times New Roman"/>
                <a:ea typeface="Times New Roman"/>
                <a:cs typeface="Times New Roman"/>
                <a:sym typeface="Times New Roman"/>
              </a:rPr>
              <a:t> April 2026)</a:t>
            </a:r>
            <a:br>
              <a:rPr b="0" i="0" lang="en-US" sz="2400" u="none">
                <a:solidFill>
                  <a:schemeClr val="dk1"/>
                </a:solidFill>
                <a:latin typeface="Arial"/>
                <a:ea typeface="Arial"/>
                <a:cs typeface="Arial"/>
                <a:sym typeface="Arial"/>
              </a:rPr>
            </a:br>
            <a:endParaRPr/>
          </a:p>
        </p:txBody>
      </p:sp>
      <p:pic>
        <p:nvPicPr>
          <p:cNvPr id="60" name="Google Shape;60;p7"/>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8"/>
          <p:cNvSpPr txBox="1"/>
          <p:nvPr/>
        </p:nvSpPr>
        <p:spPr>
          <a:xfrm>
            <a:off x="457200" y="274637"/>
            <a:ext cx="8229600" cy="1143000"/>
          </a:xfrm>
          <a:prstGeom prst="rect">
            <a:avLst/>
          </a:prstGeom>
          <a:noFill/>
          <a:ln>
            <a:noFill/>
          </a:ln>
        </p:spPr>
        <p:txBody>
          <a:bodyPr anchorCtr="0" anchor="ctr" bIns="46800" lIns="90000" spcFirstLastPara="1" rIns="90000" wrap="square" tIns="46800">
            <a:norm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 name="Google Shape;66;p8"/>
          <p:cNvSpPr txBox="1"/>
          <p:nvPr/>
        </p:nvSpPr>
        <p:spPr>
          <a:xfrm>
            <a:off x="457200" y="1720850"/>
            <a:ext cx="8229600" cy="4275137"/>
          </a:xfrm>
          <a:prstGeom prst="rect">
            <a:avLst/>
          </a:prstGeom>
          <a:noFill/>
          <a:ln>
            <a:noFill/>
          </a:ln>
        </p:spPr>
        <p:txBody>
          <a:bodyPr anchorCtr="0" anchor="t" bIns="46800" lIns="90000" spcFirstLastPara="1" rIns="90000" wrap="square" tIns="46800">
            <a:norm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7" name="Google Shape;67;p8"/>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sp>
        <p:nvSpPr>
          <p:cNvPr id="68" name="Google Shape;68;p8"/>
          <p:cNvSpPr txBox="1"/>
          <p:nvPr/>
        </p:nvSpPr>
        <p:spPr>
          <a:xfrm>
            <a:off x="250825" y="6294437"/>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sp>
        <p:nvSpPr>
          <p:cNvPr id="69" name="Google Shape;69;p8"/>
          <p:cNvSpPr txBox="1"/>
          <p:nvPr/>
        </p:nvSpPr>
        <p:spPr>
          <a:xfrm>
            <a:off x="395287" y="260350"/>
            <a:ext cx="7705725" cy="1325562"/>
          </a:xfrm>
          <a:prstGeom prst="rect">
            <a:avLst/>
          </a:prstGeom>
          <a:noFill/>
          <a:ln>
            <a:noFill/>
          </a:ln>
        </p:spPr>
        <p:txBody>
          <a:bodyPr anchorCtr="0" anchor="t"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400"/>
              <a:buFont typeface="Times New Roman"/>
              <a:buNone/>
            </a:pPr>
            <a:r>
              <a:rPr b="1" i="0" lang="en-US" sz="4400" u="none">
                <a:solidFill>
                  <a:srgbClr val="000000"/>
                </a:solidFill>
                <a:latin typeface="Times New Roman"/>
                <a:ea typeface="Times New Roman"/>
                <a:cs typeface="Times New Roman"/>
                <a:sym typeface="Times New Roman"/>
              </a:rPr>
              <a:t>Table of Content</a:t>
            </a:r>
            <a:endParaRPr/>
          </a:p>
        </p:txBody>
      </p:sp>
      <p:sp>
        <p:nvSpPr>
          <p:cNvPr id="70" name="Google Shape;70;p8"/>
          <p:cNvSpPr txBox="1"/>
          <p:nvPr/>
        </p:nvSpPr>
        <p:spPr>
          <a:xfrm>
            <a:off x="395287" y="1720850"/>
            <a:ext cx="7705725" cy="4351337"/>
          </a:xfrm>
          <a:prstGeom prst="rect">
            <a:avLst/>
          </a:prstGeom>
          <a:noFill/>
          <a:ln>
            <a:noFill/>
          </a:ln>
        </p:spPr>
        <p:txBody>
          <a:bodyPr anchorCtr="0" anchor="t" bIns="46800" lIns="90000" spcFirstLastPara="1" rIns="90000" wrap="square" tIns="46800">
            <a:normAutofit/>
          </a:bodyPr>
          <a:lstStyle/>
          <a:p>
            <a:pPr indent="-457200" lvl="0" marL="457200" marR="0" rtl="0" algn="l">
              <a:lnSpc>
                <a:spcPct val="80000"/>
              </a:lnSpc>
              <a:spcBef>
                <a:spcPts val="0"/>
              </a:spcBef>
              <a:spcAft>
                <a:spcPts val="0"/>
              </a:spcAft>
              <a:buClr>
                <a:srgbClr val="000000"/>
              </a:buClr>
              <a:buSzPts val="2200"/>
              <a:buFont typeface="Arial"/>
              <a:buChar char="•"/>
            </a:pPr>
            <a:r>
              <a:rPr b="0" i="0" lang="en-US" sz="2200" u="none">
                <a:solidFill>
                  <a:srgbClr val="000000"/>
                </a:solidFill>
                <a:latin typeface="Times New Roman"/>
                <a:ea typeface="Times New Roman"/>
                <a:cs typeface="Times New Roman"/>
                <a:sym typeface="Times New Roman"/>
              </a:rPr>
              <a:t>Introduction</a:t>
            </a:r>
            <a:endParaRPr b="0" i="0" sz="2200" u="none">
              <a:solidFill>
                <a:srgbClr val="000000"/>
              </a:solidFill>
              <a:latin typeface="Calibri"/>
              <a:ea typeface="Calibri"/>
              <a:cs typeface="Calibri"/>
              <a:sym typeface="Calibri"/>
            </a:endParaRPr>
          </a:p>
          <a:p>
            <a:pPr indent="-457200" lvl="0" marL="457200" marR="0" rtl="0" algn="l">
              <a:lnSpc>
                <a:spcPct val="80000"/>
              </a:lnSpc>
              <a:spcBef>
                <a:spcPts val="800"/>
              </a:spcBef>
              <a:spcAft>
                <a:spcPts val="0"/>
              </a:spcAft>
              <a:buClr>
                <a:srgbClr val="000000"/>
              </a:buClr>
              <a:buSzPts val="2200"/>
              <a:buFont typeface="Arial"/>
              <a:buChar char="•"/>
            </a:pPr>
            <a:r>
              <a:rPr b="0" i="0" lang="en-US" sz="2200" u="none">
                <a:solidFill>
                  <a:srgbClr val="000000"/>
                </a:solidFill>
                <a:latin typeface="Times New Roman"/>
                <a:ea typeface="Times New Roman"/>
                <a:cs typeface="Times New Roman"/>
                <a:sym typeface="Times New Roman"/>
              </a:rPr>
              <a:t>Background</a:t>
            </a:r>
            <a:endParaRPr b="0" i="0" sz="2200" u="none">
              <a:solidFill>
                <a:srgbClr val="000000"/>
              </a:solidFill>
              <a:latin typeface="Calibri"/>
              <a:ea typeface="Calibri"/>
              <a:cs typeface="Calibri"/>
              <a:sym typeface="Calibri"/>
            </a:endParaRPr>
          </a:p>
          <a:p>
            <a:pPr indent="-457200" lvl="0" marL="457200" marR="0" rtl="0" algn="l">
              <a:lnSpc>
                <a:spcPct val="80000"/>
              </a:lnSpc>
              <a:spcBef>
                <a:spcPts val="800"/>
              </a:spcBef>
              <a:spcAft>
                <a:spcPts val="0"/>
              </a:spcAft>
              <a:buClr>
                <a:srgbClr val="000000"/>
              </a:buClr>
              <a:buSzPts val="2200"/>
              <a:buFont typeface="Arial"/>
              <a:buChar char="•"/>
            </a:pPr>
            <a:r>
              <a:rPr b="0" i="0" lang="en-US" sz="2200" u="none">
                <a:solidFill>
                  <a:srgbClr val="000000"/>
                </a:solidFill>
                <a:latin typeface="Times New Roman"/>
                <a:ea typeface="Times New Roman"/>
                <a:cs typeface="Times New Roman"/>
                <a:sym typeface="Times New Roman"/>
              </a:rPr>
              <a:t>Literature/Related Work</a:t>
            </a:r>
            <a:endParaRPr b="0" i="0" sz="2200" u="none">
              <a:solidFill>
                <a:srgbClr val="000000"/>
              </a:solidFill>
              <a:latin typeface="Calibri"/>
              <a:ea typeface="Calibri"/>
              <a:cs typeface="Calibri"/>
              <a:sym typeface="Calibri"/>
            </a:endParaRPr>
          </a:p>
          <a:p>
            <a:pPr indent="-457200" lvl="0" marL="457200" marR="0" rtl="0" algn="l">
              <a:lnSpc>
                <a:spcPct val="80000"/>
              </a:lnSpc>
              <a:spcBef>
                <a:spcPts val="800"/>
              </a:spcBef>
              <a:spcAft>
                <a:spcPts val="0"/>
              </a:spcAft>
              <a:buClr>
                <a:srgbClr val="000000"/>
              </a:buClr>
              <a:buSzPts val="2200"/>
              <a:buFont typeface="Arial"/>
              <a:buChar char="•"/>
            </a:pPr>
            <a:r>
              <a:rPr b="0" i="0" lang="en-US" sz="2200" u="none">
                <a:solidFill>
                  <a:srgbClr val="000000"/>
                </a:solidFill>
                <a:latin typeface="Times New Roman"/>
                <a:ea typeface="Times New Roman"/>
                <a:cs typeface="Times New Roman"/>
                <a:sym typeface="Times New Roman"/>
              </a:rPr>
              <a:t>Problem Formulation</a:t>
            </a:r>
            <a:endParaRPr b="0" i="0" sz="2200" u="none">
              <a:solidFill>
                <a:srgbClr val="000000"/>
              </a:solidFill>
              <a:latin typeface="Calibri"/>
              <a:ea typeface="Calibri"/>
              <a:cs typeface="Calibri"/>
              <a:sym typeface="Calibri"/>
            </a:endParaRPr>
          </a:p>
          <a:p>
            <a:pPr indent="-457200" lvl="0" marL="457200" marR="0" rtl="0" algn="l">
              <a:lnSpc>
                <a:spcPct val="80000"/>
              </a:lnSpc>
              <a:spcBef>
                <a:spcPts val="800"/>
              </a:spcBef>
              <a:spcAft>
                <a:spcPts val="0"/>
              </a:spcAft>
              <a:buClr>
                <a:srgbClr val="000000"/>
              </a:buClr>
              <a:buSzPts val="2200"/>
              <a:buFont typeface="Arial"/>
              <a:buChar char="•"/>
            </a:pPr>
            <a:r>
              <a:rPr b="0" i="0" lang="en-US" sz="2200" u="none">
                <a:solidFill>
                  <a:srgbClr val="000000"/>
                </a:solidFill>
                <a:latin typeface="Times New Roman"/>
                <a:ea typeface="Times New Roman"/>
                <a:cs typeface="Times New Roman"/>
                <a:sym typeface="Times New Roman"/>
              </a:rPr>
              <a:t>Methodology/Proposed Work</a:t>
            </a:r>
            <a:endParaRPr b="0" i="0" sz="2200" u="none">
              <a:solidFill>
                <a:srgbClr val="000000"/>
              </a:solidFill>
              <a:latin typeface="Calibri"/>
              <a:ea typeface="Calibri"/>
              <a:cs typeface="Calibri"/>
              <a:sym typeface="Calibri"/>
            </a:endParaRPr>
          </a:p>
          <a:p>
            <a:pPr indent="-457200" lvl="0" marL="457200" marR="0" rtl="0" algn="l">
              <a:lnSpc>
                <a:spcPct val="80000"/>
              </a:lnSpc>
              <a:spcBef>
                <a:spcPts val="800"/>
              </a:spcBef>
              <a:spcAft>
                <a:spcPts val="0"/>
              </a:spcAft>
              <a:buClr>
                <a:srgbClr val="000000"/>
              </a:buClr>
              <a:buSzPts val="2200"/>
              <a:buFont typeface="Arial"/>
              <a:buChar char="•"/>
            </a:pPr>
            <a:r>
              <a:rPr b="0" i="0" lang="en-US" sz="2200" u="none">
                <a:solidFill>
                  <a:srgbClr val="000000"/>
                </a:solidFill>
                <a:latin typeface="Times New Roman"/>
                <a:ea typeface="Times New Roman"/>
                <a:cs typeface="Times New Roman"/>
                <a:sym typeface="Times New Roman"/>
              </a:rPr>
              <a:t>Results</a:t>
            </a:r>
            <a:endParaRPr b="0" i="0" sz="2200" u="none">
              <a:solidFill>
                <a:srgbClr val="000000"/>
              </a:solidFill>
              <a:latin typeface="Calibri"/>
              <a:ea typeface="Calibri"/>
              <a:cs typeface="Calibri"/>
              <a:sym typeface="Calibri"/>
            </a:endParaRPr>
          </a:p>
          <a:p>
            <a:pPr indent="-457200" lvl="0" marL="457200" marR="0" rtl="0" algn="l">
              <a:lnSpc>
                <a:spcPct val="80000"/>
              </a:lnSpc>
              <a:spcBef>
                <a:spcPts val="800"/>
              </a:spcBef>
              <a:spcAft>
                <a:spcPts val="0"/>
              </a:spcAft>
              <a:buClr>
                <a:srgbClr val="000000"/>
              </a:buClr>
              <a:buSzPts val="2200"/>
              <a:buFont typeface="Arial"/>
              <a:buChar char="•"/>
            </a:pPr>
            <a:r>
              <a:rPr b="0" i="0" lang="en-US" sz="2200" u="none">
                <a:solidFill>
                  <a:srgbClr val="000000"/>
                </a:solidFill>
                <a:latin typeface="Times New Roman"/>
                <a:ea typeface="Times New Roman"/>
                <a:cs typeface="Times New Roman"/>
                <a:sym typeface="Times New Roman"/>
              </a:rPr>
              <a:t>Comparison</a:t>
            </a:r>
            <a:endParaRPr b="0" i="0" sz="2200" u="none">
              <a:solidFill>
                <a:srgbClr val="000000"/>
              </a:solidFill>
              <a:latin typeface="Calibri"/>
              <a:ea typeface="Calibri"/>
              <a:cs typeface="Calibri"/>
              <a:sym typeface="Calibri"/>
            </a:endParaRPr>
          </a:p>
          <a:p>
            <a:pPr indent="-457200" lvl="0" marL="457200" marR="0" rtl="0" algn="l">
              <a:lnSpc>
                <a:spcPct val="80000"/>
              </a:lnSpc>
              <a:spcBef>
                <a:spcPts val="800"/>
              </a:spcBef>
              <a:spcAft>
                <a:spcPts val="0"/>
              </a:spcAft>
              <a:buClr>
                <a:srgbClr val="000000"/>
              </a:buClr>
              <a:buSzPts val="2200"/>
              <a:buFont typeface="Arial"/>
              <a:buChar char="•"/>
            </a:pPr>
            <a:r>
              <a:rPr b="0" i="0" lang="en-US" sz="2200" u="none">
                <a:solidFill>
                  <a:srgbClr val="000000"/>
                </a:solidFill>
                <a:latin typeface="Times New Roman"/>
                <a:ea typeface="Times New Roman"/>
                <a:cs typeface="Times New Roman"/>
                <a:sym typeface="Times New Roman"/>
              </a:rPr>
              <a:t>Discussion</a:t>
            </a:r>
            <a:endParaRPr b="0" i="0" sz="2200" u="none">
              <a:solidFill>
                <a:srgbClr val="000000"/>
              </a:solidFill>
              <a:latin typeface="Calibri"/>
              <a:ea typeface="Calibri"/>
              <a:cs typeface="Calibri"/>
              <a:sym typeface="Calibri"/>
            </a:endParaRPr>
          </a:p>
          <a:p>
            <a:pPr indent="-457200" lvl="0" marL="457200" marR="0" rtl="0" algn="l">
              <a:lnSpc>
                <a:spcPct val="80000"/>
              </a:lnSpc>
              <a:spcBef>
                <a:spcPts val="800"/>
              </a:spcBef>
              <a:spcAft>
                <a:spcPts val="0"/>
              </a:spcAft>
              <a:buClr>
                <a:srgbClr val="000000"/>
              </a:buClr>
              <a:buSzPts val="2200"/>
              <a:buFont typeface="Arial"/>
              <a:buChar char="•"/>
            </a:pPr>
            <a:r>
              <a:rPr b="0" i="0" lang="en-US" sz="2200" u="none">
                <a:solidFill>
                  <a:srgbClr val="000000"/>
                </a:solidFill>
                <a:latin typeface="Times New Roman"/>
                <a:ea typeface="Times New Roman"/>
                <a:cs typeface="Times New Roman"/>
                <a:sym typeface="Times New Roman"/>
              </a:rPr>
              <a:t>Conclusion</a:t>
            </a:r>
            <a:endParaRPr b="0" i="0" sz="2200" u="none">
              <a:solidFill>
                <a:srgbClr val="000000"/>
              </a:solidFill>
              <a:latin typeface="Calibri"/>
              <a:ea typeface="Calibri"/>
              <a:cs typeface="Calibri"/>
              <a:sym typeface="Calibri"/>
            </a:endParaRPr>
          </a:p>
          <a:p>
            <a:pPr indent="-457200" lvl="0" marL="457200" marR="0" rtl="0" algn="l">
              <a:lnSpc>
                <a:spcPct val="80000"/>
              </a:lnSpc>
              <a:spcBef>
                <a:spcPts val="800"/>
              </a:spcBef>
              <a:spcAft>
                <a:spcPts val="0"/>
              </a:spcAft>
              <a:buClr>
                <a:srgbClr val="000000"/>
              </a:buClr>
              <a:buSzPts val="2200"/>
              <a:buFont typeface="Arial"/>
              <a:buChar char="•"/>
            </a:pPr>
            <a:r>
              <a:rPr b="0" i="0" lang="en-US" sz="2200" u="none">
                <a:solidFill>
                  <a:srgbClr val="000000"/>
                </a:solidFill>
                <a:latin typeface="Times New Roman"/>
                <a:ea typeface="Times New Roman"/>
                <a:cs typeface="Times New Roman"/>
                <a:sym typeface="Times New Roman"/>
              </a:rPr>
              <a:t>Future Work</a:t>
            </a:r>
            <a:endParaRPr b="0" i="0" sz="2200" u="none">
              <a:solidFill>
                <a:srgbClr val="000000"/>
              </a:solidFill>
              <a:latin typeface="Calibri"/>
              <a:ea typeface="Calibri"/>
              <a:cs typeface="Calibri"/>
              <a:sym typeface="Calibri"/>
            </a:endParaRPr>
          </a:p>
          <a:p>
            <a:pPr indent="-457200" lvl="0" marL="457200" marR="0" rtl="0" algn="l">
              <a:lnSpc>
                <a:spcPct val="80000"/>
              </a:lnSpc>
              <a:spcBef>
                <a:spcPts val="800"/>
              </a:spcBef>
              <a:spcAft>
                <a:spcPts val="0"/>
              </a:spcAft>
              <a:buClr>
                <a:srgbClr val="000000"/>
              </a:buClr>
              <a:buSzPts val="2200"/>
              <a:buFont typeface="Arial"/>
              <a:buChar char="•"/>
            </a:pPr>
            <a:r>
              <a:rPr b="0" i="0" lang="en-US" sz="2200" u="none">
                <a:solidFill>
                  <a:srgbClr val="000000"/>
                </a:solidFill>
                <a:latin typeface="Times New Roman"/>
                <a:ea typeface="Times New Roman"/>
                <a:cs typeface="Times New Roman"/>
                <a:sym typeface="Times New Roman"/>
              </a:rPr>
              <a:t>References</a:t>
            </a:r>
            <a:endParaRPr b="0" i="0" sz="22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200" u="none">
              <a:solidFill>
                <a:srgbClr val="000000"/>
              </a:solidFill>
              <a:latin typeface="Calibri"/>
              <a:ea typeface="Calibri"/>
              <a:cs typeface="Calibri"/>
              <a:sym typeface="Calibri"/>
            </a:endParaRPr>
          </a:p>
        </p:txBody>
      </p:sp>
      <p:pic>
        <p:nvPicPr>
          <p:cNvPr id="71" name="Google Shape;71;p8"/>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9"/>
          <p:cNvSpPr txBox="1"/>
          <p:nvPr/>
        </p:nvSpPr>
        <p:spPr>
          <a:xfrm>
            <a:off x="457200" y="274637"/>
            <a:ext cx="8229600" cy="1143000"/>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400"/>
              <a:buFont typeface="Lustria"/>
              <a:buNone/>
            </a:pPr>
            <a:r>
              <a:rPr b="0" i="0" lang="en-US" sz="4400" u="none">
                <a:solidFill>
                  <a:srgbClr val="000000"/>
                </a:solidFill>
                <a:latin typeface="Lustria"/>
                <a:ea typeface="Lustria"/>
                <a:cs typeface="Lustria"/>
                <a:sym typeface="Lustria"/>
              </a:rPr>
              <a:t>Introduction</a:t>
            </a:r>
            <a:endParaRPr/>
          </a:p>
        </p:txBody>
      </p:sp>
      <p:sp>
        <p:nvSpPr>
          <p:cNvPr id="77" name="Google Shape;77;p9"/>
          <p:cNvSpPr txBox="1"/>
          <p:nvPr/>
        </p:nvSpPr>
        <p:spPr>
          <a:xfrm>
            <a:off x="457200" y="1600200"/>
            <a:ext cx="8229600" cy="4525962"/>
          </a:xfrm>
          <a:prstGeom prst="rect">
            <a:avLst/>
          </a:prstGeom>
          <a:noFill/>
          <a:ln>
            <a:noFill/>
          </a:ln>
        </p:spPr>
        <p:txBody>
          <a:bodyPr anchorCtr="0" anchor="t" bIns="46800" lIns="90000" spcFirstLastPara="1" rIns="90000" wrap="square" tIns="46800">
            <a:normAutofit fontScale="92500" lnSpcReduction="20000"/>
          </a:bodyPr>
          <a:lstStyle/>
          <a:p>
            <a:pPr indent="-300822" lvl="0" marL="339725" marR="0" rtl="0" algn="just">
              <a:lnSpc>
                <a:spcPct val="100000"/>
              </a:lnSpc>
              <a:spcBef>
                <a:spcPts val="0"/>
              </a:spcBef>
              <a:spcAft>
                <a:spcPts val="0"/>
              </a:spcAft>
              <a:buClr>
                <a:srgbClr val="000000"/>
              </a:buClr>
              <a:buSzPct val="100000"/>
              <a:buFont typeface="Arial"/>
              <a:buChar char="•"/>
            </a:pPr>
            <a:r>
              <a:rPr b="0" i="0" lang="en-US" sz="2257" u="none">
                <a:solidFill>
                  <a:srgbClr val="000000"/>
                </a:solidFill>
                <a:latin typeface="Lustria"/>
                <a:ea typeface="Lustria"/>
                <a:cs typeface="Lustria"/>
                <a:sym typeface="Lustria"/>
              </a:rPr>
              <a:t>Academic institutions increasingly require students and faculty to participate in conferences, workshops, seminars, and symposia for research collaboration and professional growth. However, finding relevant events is a major challenge as information is scattered across multiple platforms — university websites, email lists, social media, and conference portals. A study across five universities found that researchers spend 8–12 hours monthly searching for suitable academic events, with nearly 30% of relevant opportunities missed. Event Sphere addresses this by providing a unified, intelligent portal that aggregates, categorizes, and personalizes academic event discovery — reducing event search time by up to 70%.</a:t>
            </a:r>
            <a:endParaRPr b="0" i="0" sz="2257" u="none">
              <a:solidFill>
                <a:srgbClr val="000000"/>
              </a:solidFill>
              <a:latin typeface="Lustria"/>
              <a:ea typeface="Lustria"/>
              <a:cs typeface="Lustria"/>
              <a:sym typeface="Lustria"/>
            </a:endParaRPr>
          </a:p>
          <a:p>
            <a:pPr indent="0" lvl="0" marL="457200" marR="0" rtl="0" algn="just">
              <a:lnSpc>
                <a:spcPct val="90000"/>
              </a:lnSpc>
              <a:spcBef>
                <a:spcPts val="0"/>
              </a:spcBef>
              <a:spcAft>
                <a:spcPts val="0"/>
              </a:spcAft>
              <a:buNone/>
            </a:pPr>
            <a:r>
              <a:t/>
            </a:r>
            <a:endParaRPr sz="2257">
              <a:latin typeface="Lustria"/>
              <a:ea typeface="Lustria"/>
              <a:cs typeface="Lustria"/>
              <a:sym typeface="Lustria"/>
            </a:endParaRPr>
          </a:p>
          <a:p>
            <a:pPr indent="-301466" lvl="0" marL="339725" marR="0" rtl="0" algn="just">
              <a:lnSpc>
                <a:spcPct val="100000"/>
              </a:lnSpc>
              <a:spcBef>
                <a:spcPts val="600"/>
              </a:spcBef>
              <a:spcAft>
                <a:spcPts val="0"/>
              </a:spcAft>
              <a:buClr>
                <a:srgbClr val="000000"/>
              </a:buClr>
              <a:buSzPct val="100000"/>
              <a:buFont typeface="Arial"/>
              <a:buChar char="•"/>
            </a:pPr>
            <a:r>
              <a:rPr b="0" i="0" lang="en-US" sz="2268" u="none">
                <a:solidFill>
                  <a:srgbClr val="000000"/>
                </a:solidFill>
                <a:latin typeface="Lustria"/>
                <a:ea typeface="Lustria"/>
                <a:cs typeface="Lustria"/>
                <a:sym typeface="Lustria"/>
              </a:rPr>
              <a:t>Keywords: Academic Event Aggregation, Event Discovery, Web Portal, Research Collaboration, Machine Learning, Web Scraping</a:t>
            </a:r>
            <a:endParaRPr b="0" i="0" sz="2268"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700" u="none">
              <a:solidFill>
                <a:srgbClr val="000000"/>
              </a:solidFill>
              <a:latin typeface="Calibri"/>
              <a:ea typeface="Calibri"/>
              <a:cs typeface="Calibri"/>
              <a:sym typeface="Calibri"/>
            </a:endParaRPr>
          </a:p>
        </p:txBody>
      </p:sp>
      <p:sp>
        <p:nvSpPr>
          <p:cNvPr id="78" name="Google Shape;78;p9"/>
          <p:cNvSpPr txBox="1"/>
          <p:nvPr/>
        </p:nvSpPr>
        <p:spPr>
          <a:xfrm>
            <a:off x="250825" y="6453187"/>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pic>
        <p:nvPicPr>
          <p:cNvPr id="79" name="Google Shape;79;p9"/>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pic>
        <p:nvPicPr>
          <p:cNvPr id="80" name="Google Shape;80;p9"/>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0"/>
          <p:cNvSpPr txBox="1"/>
          <p:nvPr/>
        </p:nvSpPr>
        <p:spPr>
          <a:xfrm>
            <a:off x="457200" y="274637"/>
            <a:ext cx="8229600" cy="1143000"/>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400"/>
              <a:buFont typeface="Lustria"/>
              <a:buNone/>
            </a:pPr>
            <a:r>
              <a:rPr b="0" i="0" lang="en-US" sz="4400" u="none">
                <a:solidFill>
                  <a:srgbClr val="000000"/>
                </a:solidFill>
                <a:latin typeface="Lustria"/>
                <a:ea typeface="Lustria"/>
                <a:cs typeface="Lustria"/>
                <a:sym typeface="Lustria"/>
              </a:rPr>
              <a:t>Background</a:t>
            </a:r>
            <a:endParaRPr/>
          </a:p>
        </p:txBody>
      </p:sp>
      <p:sp>
        <p:nvSpPr>
          <p:cNvPr id="86" name="Google Shape;86;p10"/>
          <p:cNvSpPr txBox="1"/>
          <p:nvPr/>
        </p:nvSpPr>
        <p:spPr>
          <a:xfrm>
            <a:off x="457200" y="1600200"/>
            <a:ext cx="8229600" cy="4525962"/>
          </a:xfrm>
          <a:prstGeom prst="rect">
            <a:avLst/>
          </a:prstGeom>
          <a:noFill/>
          <a:ln>
            <a:noFill/>
          </a:ln>
        </p:spPr>
        <p:txBody>
          <a:bodyPr anchorCtr="0" anchor="t" bIns="46800" lIns="90000" spcFirstLastPara="1" rIns="90000" wrap="square" tIns="46800">
            <a:normAutofit fontScale="85000" lnSpcReduction="20000"/>
          </a:bodyPr>
          <a:lstStyle/>
          <a:p>
            <a:pPr indent="-289560" lvl="0" marL="339725" marR="0" rtl="0" algn="just">
              <a:lnSpc>
                <a:spcPct val="100000"/>
              </a:lnSpc>
              <a:spcBef>
                <a:spcPts val="0"/>
              </a:spcBef>
              <a:spcAft>
                <a:spcPts val="0"/>
              </a:spcAft>
              <a:buClr>
                <a:srgbClr val="000000"/>
              </a:buClr>
              <a:buSzPct val="100000"/>
              <a:buFont typeface="Arial"/>
              <a:buChar char="•"/>
            </a:pPr>
            <a:r>
              <a:rPr b="0" i="0" lang="en-US" sz="2247" u="none">
                <a:solidFill>
                  <a:srgbClr val="000000"/>
                </a:solidFill>
                <a:latin typeface="Lustria"/>
                <a:ea typeface="Lustria"/>
                <a:cs typeface="Lustria"/>
                <a:sym typeface="Lustria"/>
              </a:rPr>
              <a:t>Problem Context: Accreditation norms (NAAC, NBA) now mandate research participation by both students and faculty. Taking part in conferences and seminars is essential for knowledge sharing, networking, and academic growth. The core challenge: event information is fragmented across dozens of platforms, making it time-consuming and inefficient to discover relevant opportunities. Existing platforms like ResearchGate focus on publications, while AllConferences.com and ConferenceService.com rely on manual updates with limited personalization. No single platform currently provides automated, real-time, personalized academic event discovery at scale.</a:t>
            </a:r>
            <a:endParaRPr b="0" i="0" sz="2247" u="none">
              <a:solidFill>
                <a:srgbClr val="000000"/>
              </a:solidFill>
              <a:latin typeface="Lustria"/>
              <a:ea typeface="Lustria"/>
              <a:cs typeface="Lustria"/>
              <a:sym typeface="Lustria"/>
            </a:endParaRPr>
          </a:p>
          <a:p>
            <a:pPr indent="0" lvl="0" marL="457200" marR="0" rtl="0" algn="just">
              <a:lnSpc>
                <a:spcPct val="100000"/>
              </a:lnSpc>
              <a:spcBef>
                <a:spcPts val="0"/>
              </a:spcBef>
              <a:spcAft>
                <a:spcPts val="0"/>
              </a:spcAft>
              <a:buNone/>
            </a:pPr>
            <a:r>
              <a:t/>
            </a:r>
            <a:endParaRPr sz="2247">
              <a:latin typeface="Lustria"/>
              <a:ea typeface="Lustria"/>
              <a:cs typeface="Lustria"/>
              <a:sym typeface="Lustria"/>
            </a:endParaRPr>
          </a:p>
          <a:p>
            <a:pPr indent="-290667" lvl="0" marL="339725" marR="0" rtl="0" algn="just">
              <a:lnSpc>
                <a:spcPct val="100000"/>
              </a:lnSpc>
              <a:spcBef>
                <a:spcPts val="600"/>
              </a:spcBef>
              <a:spcAft>
                <a:spcPts val="0"/>
              </a:spcAft>
              <a:buClr>
                <a:srgbClr val="000000"/>
              </a:buClr>
              <a:buSzPct val="100000"/>
              <a:buFont typeface="Arial"/>
              <a:buChar char="•"/>
            </a:pPr>
            <a:r>
              <a:rPr b="0" i="0" lang="en-US" sz="2268" u="none">
                <a:solidFill>
                  <a:srgbClr val="000000"/>
                </a:solidFill>
                <a:latin typeface="Lustria"/>
                <a:ea typeface="Lustria"/>
                <a:cs typeface="Lustria"/>
                <a:sym typeface="Lustria"/>
              </a:rPr>
              <a:t>Technology Foundation: Web Scraping (BeautifulSoup, Scrapy) | NLP for event extraction | ML-based classification | Hybrid Recommendation Systems (Content-based + Collaborative Filtering)</a:t>
            </a:r>
            <a:endParaRPr b="0" i="0" sz="2268"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700" u="none">
              <a:solidFill>
                <a:srgbClr val="000000"/>
              </a:solidFill>
              <a:latin typeface="Calibri"/>
              <a:ea typeface="Calibri"/>
              <a:cs typeface="Calibri"/>
              <a:sym typeface="Calibri"/>
            </a:endParaRPr>
          </a:p>
        </p:txBody>
      </p:sp>
      <p:sp>
        <p:nvSpPr>
          <p:cNvPr id="87" name="Google Shape;87;p10"/>
          <p:cNvSpPr txBox="1"/>
          <p:nvPr/>
        </p:nvSpPr>
        <p:spPr>
          <a:xfrm>
            <a:off x="179387" y="6451600"/>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400"/>
              <a:buFont typeface="Times New Roman"/>
              <a:buNone/>
            </a:pPr>
            <a:r>
              <a:rPr b="1" i="0" lang="en-US" sz="1400" u="none">
                <a:solidFill>
                  <a:srgbClr val="FF0000"/>
                </a:solidFill>
                <a:latin typeface="Times New Roman"/>
                <a:ea typeface="Times New Roman"/>
                <a:cs typeface="Times New Roman"/>
                <a:sym typeface="Times New Roman"/>
              </a:rPr>
              <a:t>ICSAICS-2026</a:t>
            </a:r>
            <a:endParaRPr b="0" i="0" sz="14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400" u="none">
              <a:solidFill>
                <a:srgbClr val="000000"/>
              </a:solidFill>
              <a:latin typeface="Calibri"/>
              <a:ea typeface="Calibri"/>
              <a:cs typeface="Calibri"/>
              <a:sym typeface="Calibri"/>
            </a:endParaRPr>
          </a:p>
        </p:txBody>
      </p:sp>
      <p:pic>
        <p:nvPicPr>
          <p:cNvPr id="88" name="Google Shape;88;p10"/>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pic>
        <p:nvPicPr>
          <p:cNvPr id="89" name="Google Shape;89;p10"/>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1"/>
          <p:cNvSpPr txBox="1"/>
          <p:nvPr/>
        </p:nvSpPr>
        <p:spPr>
          <a:xfrm>
            <a:off x="457200" y="274637"/>
            <a:ext cx="8229600" cy="1143000"/>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400"/>
              <a:buFont typeface="Lustria"/>
              <a:buNone/>
            </a:pPr>
            <a:r>
              <a:rPr b="0" i="0" lang="en-US" sz="4400" u="none">
                <a:solidFill>
                  <a:srgbClr val="000000"/>
                </a:solidFill>
                <a:latin typeface="Lustria"/>
                <a:ea typeface="Lustria"/>
                <a:cs typeface="Lustria"/>
                <a:sym typeface="Lustria"/>
              </a:rPr>
              <a:t>Literature / Related Work</a:t>
            </a:r>
            <a:endParaRPr/>
          </a:p>
        </p:txBody>
      </p:sp>
      <p:sp>
        <p:nvSpPr>
          <p:cNvPr id="95" name="Google Shape;95;p11"/>
          <p:cNvSpPr txBox="1"/>
          <p:nvPr/>
        </p:nvSpPr>
        <p:spPr>
          <a:xfrm>
            <a:off x="457200" y="1600200"/>
            <a:ext cx="8229600" cy="4525962"/>
          </a:xfrm>
          <a:prstGeom prst="rect">
            <a:avLst/>
          </a:prstGeom>
          <a:noFill/>
          <a:ln>
            <a:noFill/>
          </a:ln>
        </p:spPr>
        <p:txBody>
          <a:bodyPr anchorCtr="0" anchor="t" bIns="46800" lIns="90000" spcFirstLastPara="1" rIns="90000" wrap="square" tIns="46800">
            <a:normAutofit fontScale="77500" lnSpcReduction="10000"/>
          </a:bodyPr>
          <a:lstStyle/>
          <a:p>
            <a:pPr indent="-282659" lvl="0" marL="339725" marR="0" rtl="0" algn="just">
              <a:lnSpc>
                <a:spcPct val="100000"/>
              </a:lnSpc>
              <a:spcBef>
                <a:spcPts val="0"/>
              </a:spcBef>
              <a:spcAft>
                <a:spcPts val="0"/>
              </a:spcAft>
              <a:buClr>
                <a:srgbClr val="000000"/>
              </a:buClr>
              <a:buSzPct val="100000"/>
              <a:buFont typeface="Arial"/>
              <a:buChar char="•"/>
            </a:pPr>
            <a:r>
              <a:rPr b="0" i="0" lang="en-US" sz="2453" u="none">
                <a:solidFill>
                  <a:srgbClr val="000000"/>
                </a:solidFill>
                <a:latin typeface="Lustria"/>
                <a:ea typeface="Lustria"/>
                <a:cs typeface="Lustria"/>
                <a:sym typeface="Lustria"/>
              </a:rPr>
              <a:t>Existing Platforms: ResearchGate &amp; Academia.edu focus on researcher profiles, not event discovery. AllConferences.com and ConferenceService.com list events but rely on manual updates, provide inaccurate data, and offer little personalization [4]. NLP Techniques: Event data extraction from web sources using NLP has been shown effective [5]. ML-based classification achieves strong results for event content categorization [6]. Web Scraping: Common method for event data collection, but anti-scraping measures and inconsistent layouts present challenges [7]. Hybrid approaches combining rule-based and ML-driven extraction are gaining traction.</a:t>
            </a:r>
            <a:endParaRPr b="0" i="0" sz="2453" u="none">
              <a:solidFill>
                <a:srgbClr val="000000"/>
              </a:solidFill>
              <a:latin typeface="Calibri"/>
              <a:ea typeface="Calibri"/>
              <a:cs typeface="Calibri"/>
              <a:sym typeface="Calibri"/>
            </a:endParaRPr>
          </a:p>
          <a:p>
            <a:pPr indent="-280035" lvl="0" marL="339725" marR="0" rtl="0" algn="just">
              <a:lnSpc>
                <a:spcPct val="100000"/>
              </a:lnSpc>
              <a:spcBef>
                <a:spcPts val="600"/>
              </a:spcBef>
              <a:spcAft>
                <a:spcPts val="0"/>
              </a:spcAft>
              <a:buClr>
                <a:srgbClr val="000000"/>
              </a:buClr>
              <a:buSzPct val="100000"/>
              <a:buFont typeface="Arial"/>
              <a:buChar char="•"/>
            </a:pPr>
            <a:r>
              <a:rPr b="0" i="0" lang="en-US" sz="2400" u="none">
                <a:solidFill>
                  <a:srgbClr val="000000"/>
                </a:solidFill>
                <a:latin typeface="Lustria"/>
                <a:ea typeface="Lustria"/>
                <a:cs typeface="Lustria"/>
                <a:sym typeface="Lustria"/>
              </a:rPr>
              <a:t>Recommendation Systems: Collaborative filtering and content-based filtering used in e-commerce are adapted here for academic events [8]. Key gap: static models fail to handle evolving user interests and lack of standardized metadata across event platforms — addressed by Event Sphere’s hybrid dynamic model.</a:t>
            </a:r>
            <a:endParaRPr sz="2400"/>
          </a:p>
        </p:txBody>
      </p:sp>
      <p:sp>
        <p:nvSpPr>
          <p:cNvPr id="96" name="Google Shape;96;p11"/>
          <p:cNvSpPr txBox="1"/>
          <p:nvPr/>
        </p:nvSpPr>
        <p:spPr>
          <a:xfrm>
            <a:off x="250825" y="6453187"/>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pic>
        <p:nvPicPr>
          <p:cNvPr id="97" name="Google Shape;97;p11"/>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pic>
        <p:nvPicPr>
          <p:cNvPr id="98" name="Google Shape;98;p11"/>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2"/>
          <p:cNvSpPr txBox="1"/>
          <p:nvPr/>
        </p:nvSpPr>
        <p:spPr>
          <a:xfrm>
            <a:off x="123825" y="293687"/>
            <a:ext cx="8229600" cy="1143000"/>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200"/>
              <a:buFont typeface="Lustria"/>
              <a:buNone/>
            </a:pPr>
            <a:r>
              <a:rPr b="0" i="0" lang="en-US" sz="4200" u="none">
                <a:solidFill>
                  <a:srgbClr val="000000"/>
                </a:solidFill>
                <a:latin typeface="Lustria"/>
                <a:ea typeface="Lustria"/>
                <a:cs typeface="Lustria"/>
                <a:sym typeface="Lustria"/>
              </a:rPr>
              <a:t>Problem Formulation</a:t>
            </a:r>
            <a:endParaRPr/>
          </a:p>
        </p:txBody>
      </p:sp>
      <p:sp>
        <p:nvSpPr>
          <p:cNvPr id="104" name="Google Shape;104;p12"/>
          <p:cNvSpPr txBox="1"/>
          <p:nvPr/>
        </p:nvSpPr>
        <p:spPr>
          <a:xfrm>
            <a:off x="457200" y="1600200"/>
            <a:ext cx="8229600" cy="4525962"/>
          </a:xfrm>
          <a:prstGeom prst="rect">
            <a:avLst/>
          </a:prstGeom>
          <a:noFill/>
          <a:ln>
            <a:noFill/>
          </a:ln>
        </p:spPr>
        <p:txBody>
          <a:bodyPr anchorCtr="0" anchor="t" bIns="46800" lIns="90000" spcFirstLastPara="1" rIns="90000" wrap="square" tIns="46800">
            <a:noAutofit/>
          </a:bodyPr>
          <a:lstStyle/>
          <a:p>
            <a:pPr indent="-295275" lvl="0" marL="339725" marR="0" rtl="0" algn="just">
              <a:lnSpc>
                <a:spcPct val="9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Scattered Sources: Academic events are advertised across university websites, conference portals, email, and social media</a:t>
            </a:r>
            <a:r>
              <a:rPr lang="en-US" sz="2000">
                <a:latin typeface="Lustria"/>
                <a:ea typeface="Lustria"/>
                <a:cs typeface="Lustria"/>
                <a:sym typeface="Lustria"/>
              </a:rPr>
              <a:t>;</a:t>
            </a:r>
            <a:r>
              <a:rPr b="0" i="0" lang="en-US" sz="2000" u="none">
                <a:solidFill>
                  <a:srgbClr val="000000"/>
                </a:solidFill>
                <a:latin typeface="Lustria"/>
                <a:ea typeface="Lustria"/>
                <a:cs typeface="Lustria"/>
                <a:sym typeface="Lustria"/>
              </a:rPr>
              <a:t> forcing users to manually check dozens of sources repeatedly</a:t>
            </a:r>
            <a:r>
              <a:rPr lang="en-US" sz="2000">
                <a:latin typeface="Lustria"/>
                <a:ea typeface="Lustria"/>
                <a:cs typeface="Lustria"/>
                <a:sym typeface="Lustria"/>
              </a:rPr>
              <a:t>. </a:t>
            </a:r>
            <a:endParaRPr sz="2000">
              <a:latin typeface="Lustria"/>
              <a:ea typeface="Lustria"/>
              <a:cs typeface="Lustria"/>
              <a:sym typeface="Lustria"/>
            </a:endParaRPr>
          </a:p>
          <a:p>
            <a:pPr indent="-295275" lvl="0" marL="339725" marR="0" rtl="0" algn="just">
              <a:lnSpc>
                <a:spcPct val="9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Time Consumed: Despite significant effort, relevant events are missed. Researchers spend 8-12 hours/month in event search; 30% of relevant events go unnoticed. </a:t>
            </a:r>
            <a:endParaRPr sz="2000">
              <a:latin typeface="Lustria"/>
              <a:ea typeface="Lustria"/>
              <a:cs typeface="Lustria"/>
              <a:sym typeface="Lustria"/>
            </a:endParaRPr>
          </a:p>
          <a:p>
            <a:pPr indent="-295275" lvl="0" marL="339725" marR="0" rtl="0" algn="just">
              <a:lnSpc>
                <a:spcPct val="9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Lack of Personalization: Existing platforms provide generic listings without considering a user’s research area, interests, or career stage. </a:t>
            </a:r>
            <a:endParaRPr sz="2000">
              <a:latin typeface="Lustria"/>
              <a:ea typeface="Lustria"/>
              <a:cs typeface="Lustria"/>
              <a:sym typeface="Lustria"/>
            </a:endParaRPr>
          </a:p>
          <a:p>
            <a:pPr indent="-295275" lvl="0" marL="339725" marR="0" rtl="0" algn="just">
              <a:lnSpc>
                <a:spcPct val="9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Outdated Information: Most platforms depend on manual submission</a:t>
            </a:r>
            <a:r>
              <a:rPr lang="en-US" sz="2000">
                <a:latin typeface="Lustria"/>
                <a:ea typeface="Lustria"/>
                <a:cs typeface="Lustria"/>
                <a:sym typeface="Lustria"/>
              </a:rPr>
              <a:t>s;</a:t>
            </a:r>
            <a:r>
              <a:rPr b="0" i="0" lang="en-US" sz="2000" u="none">
                <a:solidFill>
                  <a:srgbClr val="000000"/>
                </a:solidFill>
                <a:latin typeface="Lustria"/>
                <a:ea typeface="Lustria"/>
                <a:cs typeface="Lustria"/>
                <a:sym typeface="Lustria"/>
              </a:rPr>
              <a:t> resulting in incomplete, outdated, or miscategorized event data. </a:t>
            </a:r>
            <a:endParaRPr b="0" i="0" sz="2000" u="none">
              <a:solidFill>
                <a:srgbClr val="000000"/>
              </a:solidFill>
              <a:latin typeface="Lustria"/>
              <a:ea typeface="Lustria"/>
              <a:cs typeface="Lustria"/>
              <a:sym typeface="Lustria"/>
            </a:endParaRPr>
          </a:p>
          <a:p>
            <a:pPr indent="-295275" lvl="0" marL="339725" marR="0" rtl="0" algn="just">
              <a:lnSpc>
                <a:spcPct val="9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Ineffective Discovery: Students and early-career researchers who need event access most</a:t>
            </a:r>
            <a:r>
              <a:rPr lang="en-US" sz="2000">
                <a:latin typeface="Lustria"/>
                <a:ea typeface="Lustria"/>
                <a:cs typeface="Lustria"/>
                <a:sym typeface="Lustria"/>
              </a:rPr>
              <a:t>;</a:t>
            </a:r>
            <a:r>
              <a:rPr b="0" i="0" lang="en-US" sz="2000" u="none">
                <a:solidFill>
                  <a:srgbClr val="000000"/>
                </a:solidFill>
                <a:latin typeface="Lustria"/>
                <a:ea typeface="Lustria"/>
                <a:cs typeface="Lustria"/>
                <a:sym typeface="Lustria"/>
              </a:rPr>
              <a:t> lose valuable academic opportunities due to these compounded inefficiencies.</a:t>
            </a:r>
            <a:endParaRPr b="0" i="0" sz="20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700" u="none">
              <a:solidFill>
                <a:srgbClr val="000000"/>
              </a:solidFill>
              <a:latin typeface="Calibri"/>
              <a:ea typeface="Calibri"/>
              <a:cs typeface="Calibri"/>
              <a:sym typeface="Calibri"/>
            </a:endParaRPr>
          </a:p>
        </p:txBody>
      </p:sp>
      <p:sp>
        <p:nvSpPr>
          <p:cNvPr id="105" name="Google Shape;105;p12"/>
          <p:cNvSpPr txBox="1"/>
          <p:nvPr/>
        </p:nvSpPr>
        <p:spPr>
          <a:xfrm>
            <a:off x="250825" y="6453187"/>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pic>
        <p:nvPicPr>
          <p:cNvPr id="106" name="Google Shape;106;p12"/>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pic>
        <p:nvPicPr>
          <p:cNvPr id="107" name="Google Shape;107;p12"/>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3"/>
          <p:cNvSpPr txBox="1"/>
          <p:nvPr/>
        </p:nvSpPr>
        <p:spPr>
          <a:xfrm>
            <a:off x="230187" y="260350"/>
            <a:ext cx="8229600" cy="1143000"/>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300"/>
              <a:buFont typeface="Lustria"/>
              <a:buNone/>
            </a:pPr>
            <a:r>
              <a:rPr b="0" i="0" lang="en-US" sz="4300" u="none">
                <a:solidFill>
                  <a:srgbClr val="000000"/>
                </a:solidFill>
                <a:latin typeface="Lustria"/>
                <a:ea typeface="Lustria"/>
                <a:cs typeface="Lustria"/>
                <a:sym typeface="Lustria"/>
              </a:rPr>
              <a:t>Proposed System: Event Sphere</a:t>
            </a:r>
            <a:endParaRPr/>
          </a:p>
        </p:txBody>
      </p:sp>
      <p:sp>
        <p:nvSpPr>
          <p:cNvPr id="113" name="Google Shape;113;p13"/>
          <p:cNvSpPr txBox="1"/>
          <p:nvPr/>
        </p:nvSpPr>
        <p:spPr>
          <a:xfrm>
            <a:off x="457200" y="1600200"/>
            <a:ext cx="8229600" cy="4525962"/>
          </a:xfrm>
          <a:prstGeom prst="rect">
            <a:avLst/>
          </a:prstGeom>
          <a:noFill/>
          <a:ln>
            <a:noFill/>
          </a:ln>
        </p:spPr>
        <p:txBody>
          <a:bodyPr anchorCtr="0" anchor="t" bIns="46800" lIns="90000" spcFirstLastPara="1" rIns="90000" wrap="square" tIns="46800">
            <a:normAutofit fontScale="62500" lnSpcReduction="10000"/>
          </a:bodyPr>
          <a:lstStyle/>
          <a:p>
            <a:pPr indent="-271463" lvl="0" marL="339725" marR="0" rtl="0" algn="just">
              <a:lnSpc>
                <a:spcPct val="100000"/>
              </a:lnSpc>
              <a:spcBef>
                <a:spcPts val="0"/>
              </a:spcBef>
              <a:spcAft>
                <a:spcPts val="0"/>
              </a:spcAft>
              <a:buClr>
                <a:srgbClr val="000000"/>
              </a:buClr>
              <a:buSzPct val="100000"/>
              <a:buFont typeface="Arial"/>
              <a:buChar char="•"/>
            </a:pPr>
            <a:r>
              <a:rPr b="0" i="0" lang="en-US" sz="2600" u="none">
                <a:solidFill>
                  <a:srgbClr val="000000"/>
                </a:solidFill>
                <a:latin typeface="Lustria"/>
                <a:ea typeface="Lustria"/>
                <a:cs typeface="Lustria"/>
                <a:sym typeface="Lustria"/>
              </a:rPr>
              <a:t>System Architecture (3-Tier): Presentation Layer (Web Interface + Mobile App) | Application Layer (Event Processing, User Management, Recommendation Engine) | Data Layer (Event Database, User Profiles, Scraping Sources)</a:t>
            </a:r>
            <a:endParaRPr b="0" i="0" sz="2600" u="none">
              <a:solidFill>
                <a:srgbClr val="000000"/>
              </a:solidFill>
              <a:latin typeface="Lustria"/>
              <a:ea typeface="Lustria"/>
              <a:cs typeface="Lustria"/>
              <a:sym typeface="Lustria"/>
            </a:endParaRPr>
          </a:p>
          <a:p>
            <a:pPr indent="0" lvl="0" marL="457200" marR="0" rtl="0" algn="just">
              <a:lnSpc>
                <a:spcPct val="100000"/>
              </a:lnSpc>
              <a:spcBef>
                <a:spcPts val="0"/>
              </a:spcBef>
              <a:spcAft>
                <a:spcPts val="0"/>
              </a:spcAft>
              <a:buNone/>
            </a:pPr>
            <a:r>
              <a:t/>
            </a:r>
            <a:endParaRPr sz="2600">
              <a:latin typeface="Lustria"/>
              <a:ea typeface="Lustria"/>
              <a:cs typeface="Lustria"/>
              <a:sym typeface="Lustria"/>
            </a:endParaRPr>
          </a:p>
          <a:p>
            <a:pPr indent="-269478" lvl="0" marL="339725" marR="0" rtl="0" algn="just">
              <a:lnSpc>
                <a:spcPct val="100000"/>
              </a:lnSpc>
              <a:spcBef>
                <a:spcPts val="600"/>
              </a:spcBef>
              <a:spcAft>
                <a:spcPts val="0"/>
              </a:spcAft>
              <a:buClr>
                <a:srgbClr val="000000"/>
              </a:buClr>
              <a:buSzPct val="100000"/>
              <a:buFont typeface="Arial"/>
              <a:buChar char="•"/>
            </a:pPr>
            <a:r>
              <a:rPr b="0" i="0" lang="en-US" sz="2550" u="none">
                <a:solidFill>
                  <a:srgbClr val="000000"/>
                </a:solidFill>
                <a:latin typeface="Lustria"/>
                <a:ea typeface="Lustria"/>
                <a:cs typeface="Lustria"/>
                <a:sym typeface="Lustria"/>
              </a:rPr>
              <a:t>Data Collection: Web scraping (BeautifulSoup + Scrapy), API integration, manual event submissions. Processing Pipeline: Deduplication → NLP (tokenization, NER) → ML classification (MLP, 89.7% accuracy) → Geocoding → Storage in MongoDB.</a:t>
            </a:r>
            <a:endParaRPr b="0" i="0" sz="2550" u="none">
              <a:solidFill>
                <a:srgbClr val="000000"/>
              </a:solidFill>
              <a:latin typeface="Lustria"/>
              <a:ea typeface="Lustria"/>
              <a:cs typeface="Lustria"/>
              <a:sym typeface="Lustria"/>
            </a:endParaRPr>
          </a:p>
          <a:p>
            <a:pPr indent="0" lvl="0" marL="457200" marR="0" rtl="0" algn="just">
              <a:lnSpc>
                <a:spcPct val="100000"/>
              </a:lnSpc>
              <a:spcBef>
                <a:spcPts val="600"/>
              </a:spcBef>
              <a:spcAft>
                <a:spcPts val="0"/>
              </a:spcAft>
              <a:buNone/>
            </a:pPr>
            <a:r>
              <a:t/>
            </a:r>
            <a:endParaRPr sz="2550">
              <a:latin typeface="Lustria"/>
              <a:ea typeface="Lustria"/>
              <a:cs typeface="Lustria"/>
              <a:sym typeface="Lustria"/>
            </a:endParaRPr>
          </a:p>
          <a:p>
            <a:pPr indent="-269478" lvl="0" marL="339725" marR="0" rtl="0" algn="just">
              <a:lnSpc>
                <a:spcPct val="100000"/>
              </a:lnSpc>
              <a:spcBef>
                <a:spcPts val="600"/>
              </a:spcBef>
              <a:spcAft>
                <a:spcPts val="0"/>
              </a:spcAft>
              <a:buClr>
                <a:srgbClr val="000000"/>
              </a:buClr>
              <a:buSzPct val="100000"/>
              <a:buFont typeface="Arial"/>
              <a:buChar char="•"/>
            </a:pPr>
            <a:r>
              <a:rPr b="0" i="0" lang="en-US" sz="2550" u="none">
                <a:solidFill>
                  <a:srgbClr val="000000"/>
                </a:solidFill>
                <a:latin typeface="Lustria"/>
                <a:ea typeface="Lustria"/>
                <a:cs typeface="Lustria"/>
                <a:sym typeface="Lustria"/>
              </a:rPr>
              <a:t>Recommendation Formula: Ru,e = α · CBu,e + (1−α) · CFu,e | α = 0.6 (optimized). Blends content-based similarity with collaborative filtering from similar users’ preferences.</a:t>
            </a:r>
            <a:endParaRPr b="0" i="0" sz="2550" u="none">
              <a:solidFill>
                <a:srgbClr val="000000"/>
              </a:solidFill>
              <a:latin typeface="Lustria"/>
              <a:ea typeface="Lustria"/>
              <a:cs typeface="Lustria"/>
              <a:sym typeface="Lustria"/>
            </a:endParaRPr>
          </a:p>
          <a:p>
            <a:pPr indent="0" lvl="0" marL="457200" marR="0" rtl="0" algn="just">
              <a:lnSpc>
                <a:spcPct val="100000"/>
              </a:lnSpc>
              <a:spcBef>
                <a:spcPts val="600"/>
              </a:spcBef>
              <a:spcAft>
                <a:spcPts val="0"/>
              </a:spcAft>
              <a:buNone/>
            </a:pPr>
            <a:r>
              <a:t/>
            </a:r>
            <a:endParaRPr sz="2550">
              <a:latin typeface="Lustria"/>
              <a:ea typeface="Lustria"/>
              <a:cs typeface="Lustria"/>
              <a:sym typeface="Lustria"/>
            </a:endParaRPr>
          </a:p>
          <a:p>
            <a:pPr indent="-269478" lvl="0" marL="339725" marR="0" rtl="0" algn="just">
              <a:lnSpc>
                <a:spcPct val="100000"/>
              </a:lnSpc>
              <a:spcBef>
                <a:spcPts val="600"/>
              </a:spcBef>
              <a:spcAft>
                <a:spcPts val="0"/>
              </a:spcAft>
              <a:buClr>
                <a:srgbClr val="000000"/>
              </a:buClr>
              <a:buSzPct val="100000"/>
              <a:buFont typeface="Arial"/>
              <a:buChar char="•"/>
            </a:pPr>
            <a:r>
              <a:rPr b="0" i="0" lang="en-US" sz="2550" u="none">
                <a:solidFill>
                  <a:srgbClr val="000000"/>
                </a:solidFill>
                <a:latin typeface="Lustria"/>
                <a:ea typeface="Lustria"/>
                <a:cs typeface="Lustria"/>
                <a:sym typeface="Lustria"/>
              </a:rPr>
              <a:t>UI Features: Advanced Search (date, location, keywords) | Personalized Dashboard | Google Calendar &amp; Outlook Integration | Email Notifications | Social Bookmarking. Tech Stack: React.js + Node.js + MongoDB + Docker.</a:t>
            </a:r>
            <a:endParaRPr b="0" i="0" sz="255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700" u="none">
              <a:solidFill>
                <a:srgbClr val="000000"/>
              </a:solidFill>
              <a:latin typeface="Calibri"/>
              <a:ea typeface="Calibri"/>
              <a:cs typeface="Calibri"/>
              <a:sym typeface="Calibri"/>
            </a:endParaRPr>
          </a:p>
        </p:txBody>
      </p:sp>
      <p:sp>
        <p:nvSpPr>
          <p:cNvPr id="114" name="Google Shape;114;p13"/>
          <p:cNvSpPr txBox="1"/>
          <p:nvPr/>
        </p:nvSpPr>
        <p:spPr>
          <a:xfrm>
            <a:off x="250825" y="6453187"/>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pic>
        <p:nvPicPr>
          <p:cNvPr id="115" name="Google Shape;115;p13"/>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pic>
        <p:nvPicPr>
          <p:cNvPr id="116" name="Google Shape;116;p13"/>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4"/>
          <p:cNvSpPr txBox="1"/>
          <p:nvPr/>
        </p:nvSpPr>
        <p:spPr>
          <a:xfrm>
            <a:off x="457200" y="274637"/>
            <a:ext cx="8229600" cy="1143000"/>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400"/>
              <a:buFont typeface="Lustria"/>
              <a:buNone/>
            </a:pPr>
            <a:r>
              <a:rPr b="0" i="0" lang="en-US" sz="4400" u="none">
                <a:solidFill>
                  <a:srgbClr val="000000"/>
                </a:solidFill>
                <a:latin typeface="Lustria"/>
                <a:ea typeface="Lustria"/>
                <a:cs typeface="Lustria"/>
                <a:sym typeface="Lustria"/>
              </a:rPr>
              <a:t>Results &amp; Evaluation</a:t>
            </a:r>
            <a:endParaRPr/>
          </a:p>
        </p:txBody>
      </p:sp>
      <p:sp>
        <p:nvSpPr>
          <p:cNvPr id="122" name="Google Shape;122;p14"/>
          <p:cNvSpPr txBox="1"/>
          <p:nvPr/>
        </p:nvSpPr>
        <p:spPr>
          <a:xfrm>
            <a:off x="457200" y="1600200"/>
            <a:ext cx="8229600" cy="4525962"/>
          </a:xfrm>
          <a:prstGeom prst="rect">
            <a:avLst/>
          </a:prstGeom>
          <a:noFill/>
          <a:ln>
            <a:noFill/>
          </a:ln>
        </p:spPr>
        <p:txBody>
          <a:bodyPr anchorCtr="0" anchor="t" bIns="46800" lIns="90000" spcFirstLastPara="1" rIns="90000" wrap="square" tIns="46800">
            <a:normAutofit fontScale="85000" lnSpcReduction="10000"/>
          </a:bodyPr>
          <a:lstStyle/>
          <a:p>
            <a:pPr indent="-295910" lvl="0" marL="339725" marR="0" rtl="0" algn="just">
              <a:lnSpc>
                <a:spcPct val="100000"/>
              </a:lnSpc>
              <a:spcBef>
                <a:spcPts val="0"/>
              </a:spcBef>
              <a:spcAft>
                <a:spcPts val="0"/>
              </a:spcAft>
              <a:buClr>
                <a:srgbClr val="000000"/>
              </a:buClr>
              <a:buSzPct val="100000"/>
              <a:buFont typeface="Arial"/>
              <a:buChar char="•"/>
            </a:pPr>
            <a:r>
              <a:rPr b="0" i="0" lang="en-US" sz="2365" u="none">
                <a:solidFill>
                  <a:srgbClr val="000000"/>
                </a:solidFill>
                <a:latin typeface="Lustria"/>
                <a:ea typeface="Lustria"/>
                <a:cs typeface="Lustria"/>
                <a:sym typeface="Lustria"/>
              </a:rPr>
              <a:t>Evaluation Setup: 3-month study with 250 participants (UG, PG, Faculty, Researchers). Event Coverage: Manual Search avg 37% vs Event Sphere 86% — 132% improvement overall. International Conferences: 45% → 92% (+104%). National Workshops: 38% → 88% (+132%). University Seminars: 28% → 79% (+182%).</a:t>
            </a:r>
            <a:endParaRPr b="0" i="0" sz="2365" u="none">
              <a:solidFill>
                <a:srgbClr val="000000"/>
              </a:solidFill>
              <a:latin typeface="Calibri"/>
              <a:ea typeface="Calibri"/>
              <a:cs typeface="Calibri"/>
              <a:sym typeface="Calibri"/>
            </a:endParaRPr>
          </a:p>
          <a:p>
            <a:pPr indent="-295116" lvl="0" marL="339725" marR="0" rtl="0" algn="just">
              <a:lnSpc>
                <a:spcPct val="100000"/>
              </a:lnSpc>
              <a:spcBef>
                <a:spcPts val="600"/>
              </a:spcBef>
              <a:spcAft>
                <a:spcPts val="0"/>
              </a:spcAft>
              <a:buClr>
                <a:srgbClr val="000000"/>
              </a:buClr>
              <a:buSzPct val="100000"/>
              <a:buFont typeface="Arial"/>
              <a:buChar char="•"/>
            </a:pPr>
            <a:r>
              <a:rPr b="0" i="0" lang="en-US" sz="2350" u="none">
                <a:solidFill>
                  <a:srgbClr val="000000"/>
                </a:solidFill>
                <a:latin typeface="Lustria"/>
                <a:ea typeface="Lustria"/>
                <a:cs typeface="Lustria"/>
                <a:sym typeface="Lustria"/>
              </a:rPr>
              <a:t>Search Efficiency: Event Sphere reduced average search time from 14.7 min to 2.3 min — a ~84% reduction in time per search session.</a:t>
            </a:r>
            <a:endParaRPr b="0" i="0" sz="2350" u="none">
              <a:solidFill>
                <a:srgbClr val="000000"/>
              </a:solidFill>
              <a:latin typeface="Calibri"/>
              <a:ea typeface="Calibri"/>
              <a:cs typeface="Calibri"/>
              <a:sym typeface="Calibri"/>
            </a:endParaRPr>
          </a:p>
          <a:p>
            <a:pPr indent="-295116" lvl="0" marL="339725" marR="0" rtl="0" algn="just">
              <a:lnSpc>
                <a:spcPct val="100000"/>
              </a:lnSpc>
              <a:spcBef>
                <a:spcPts val="600"/>
              </a:spcBef>
              <a:spcAft>
                <a:spcPts val="0"/>
              </a:spcAft>
              <a:buClr>
                <a:srgbClr val="000000"/>
              </a:buClr>
              <a:buSzPct val="100000"/>
              <a:buFont typeface="Arial"/>
              <a:buChar char="•"/>
            </a:pPr>
            <a:r>
              <a:rPr b="0" i="0" lang="en-US" sz="2350" u="none">
                <a:solidFill>
                  <a:srgbClr val="000000"/>
                </a:solidFill>
                <a:latin typeface="Lustria"/>
                <a:ea typeface="Lustria"/>
                <a:cs typeface="Lustria"/>
                <a:sym typeface="Lustria"/>
              </a:rPr>
              <a:t>Recommendation Accuracy (Overall): Precision 0.82 | Recall 0.77 | F1-Score 0.79. Faculty Members achieved highest F1-Score of 0.83.</a:t>
            </a:r>
            <a:endParaRPr b="0" i="0" sz="2350" u="none">
              <a:solidFill>
                <a:srgbClr val="000000"/>
              </a:solidFill>
              <a:latin typeface="Calibri"/>
              <a:ea typeface="Calibri"/>
              <a:cs typeface="Calibri"/>
              <a:sym typeface="Calibri"/>
            </a:endParaRPr>
          </a:p>
          <a:p>
            <a:pPr indent="-295116" lvl="0" marL="339725" marR="0" rtl="0" algn="just">
              <a:lnSpc>
                <a:spcPct val="100000"/>
              </a:lnSpc>
              <a:spcBef>
                <a:spcPts val="600"/>
              </a:spcBef>
              <a:spcAft>
                <a:spcPts val="0"/>
              </a:spcAft>
              <a:buClr>
                <a:srgbClr val="000000"/>
              </a:buClr>
              <a:buSzPct val="100000"/>
              <a:buFont typeface="Arial"/>
              <a:buChar char="•"/>
            </a:pPr>
            <a:r>
              <a:rPr b="0" i="0" lang="en-US" sz="2350" u="none">
                <a:solidFill>
                  <a:srgbClr val="000000"/>
                </a:solidFill>
                <a:latin typeface="Lustria"/>
                <a:ea typeface="Lustria"/>
                <a:cs typeface="Lustria"/>
                <a:sym typeface="Lustria"/>
              </a:rPr>
              <a:t>User Satisfaction Survey (N=250): Ease of finding events: 4.6/5 | Interface intuitiveness: 4.4/5 | Notification usefulness: 4.5/5 | Overall satisfaction: 4.4/5.</a:t>
            </a:r>
            <a:endParaRPr sz="2350">
              <a:latin typeface="Calibri"/>
              <a:ea typeface="Calibri"/>
              <a:cs typeface="Calibri"/>
              <a:sym typeface="Calibri"/>
            </a:endParaRPr>
          </a:p>
          <a:p>
            <a:pPr indent="0" lvl="0" marL="0" marR="0" rtl="0" algn="just">
              <a:lnSpc>
                <a:spcPct val="100000"/>
              </a:lnSpc>
              <a:spcBef>
                <a:spcPts val="600"/>
              </a:spcBef>
              <a:spcAft>
                <a:spcPts val="0"/>
              </a:spcAft>
              <a:buNone/>
            </a:pPr>
            <a:r>
              <a:t/>
            </a:r>
            <a:endParaRPr sz="2350">
              <a:latin typeface="Calibri"/>
              <a:ea typeface="Calibri"/>
              <a:cs typeface="Calibri"/>
              <a:sym typeface="Calibri"/>
            </a:endParaRPr>
          </a:p>
        </p:txBody>
      </p:sp>
      <p:sp>
        <p:nvSpPr>
          <p:cNvPr id="123" name="Google Shape;123;p14"/>
          <p:cNvSpPr txBox="1"/>
          <p:nvPr/>
        </p:nvSpPr>
        <p:spPr>
          <a:xfrm>
            <a:off x="250825" y="6453187"/>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pic>
        <p:nvPicPr>
          <p:cNvPr id="124" name="Google Shape;124;p14"/>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pic>
        <p:nvPicPr>
          <p:cNvPr id="125" name="Google Shape;125;p14"/>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5"/>
          <p:cNvSpPr txBox="1"/>
          <p:nvPr/>
        </p:nvSpPr>
        <p:spPr>
          <a:xfrm>
            <a:off x="457200" y="274637"/>
            <a:ext cx="8229600" cy="1143000"/>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400"/>
              <a:buFont typeface="Lustria"/>
              <a:buNone/>
            </a:pPr>
            <a:r>
              <a:rPr b="0" i="0" lang="en-US" sz="4400" u="none">
                <a:solidFill>
                  <a:srgbClr val="000000"/>
                </a:solidFill>
                <a:latin typeface="Lustria"/>
                <a:ea typeface="Lustria"/>
                <a:cs typeface="Lustria"/>
                <a:sym typeface="Lustria"/>
              </a:rPr>
              <a:t>Comparison with Existing Systems</a:t>
            </a:r>
            <a:endParaRPr/>
          </a:p>
        </p:txBody>
      </p:sp>
      <p:sp>
        <p:nvSpPr>
          <p:cNvPr id="131" name="Google Shape;131;p15"/>
          <p:cNvSpPr txBox="1"/>
          <p:nvPr/>
        </p:nvSpPr>
        <p:spPr>
          <a:xfrm>
            <a:off x="457200" y="1600200"/>
            <a:ext cx="8229600" cy="4525962"/>
          </a:xfrm>
          <a:prstGeom prst="rect">
            <a:avLst/>
          </a:prstGeom>
          <a:noFill/>
          <a:ln>
            <a:noFill/>
          </a:ln>
        </p:spPr>
        <p:txBody>
          <a:bodyPr anchorCtr="0" anchor="t" bIns="46800" lIns="90000" spcFirstLastPara="1" rIns="90000" wrap="square" tIns="46800">
            <a:normAutofit lnSpcReduction="20000"/>
          </a:bodyPr>
          <a:lstStyle/>
          <a:p>
            <a:pPr indent="-304800" lvl="0" marL="339725" marR="0" rtl="0" algn="just">
              <a:lnSpc>
                <a:spcPct val="100000"/>
              </a:lnSpc>
              <a:spcBef>
                <a:spcPts val="0"/>
              </a:spcBef>
              <a:spcAft>
                <a:spcPts val="0"/>
              </a:spcAft>
              <a:buClr>
                <a:srgbClr val="000000"/>
              </a:buClr>
              <a:buSzPts val="2150"/>
              <a:buFont typeface="Arial"/>
              <a:buChar char="•"/>
            </a:pPr>
            <a:r>
              <a:rPr b="0" i="0" lang="en-US" sz="2150" u="none">
                <a:solidFill>
                  <a:srgbClr val="000000"/>
                </a:solidFill>
                <a:latin typeface="Lustria"/>
                <a:ea typeface="Lustria"/>
                <a:cs typeface="Lustria"/>
                <a:sym typeface="Lustria"/>
              </a:rPr>
              <a:t>Platform Comparison — Coverage: ResearchGate (Limited), AllConferences.com (Moderate), University Websites (Limited), Email Lists (Variable), Event Sphere (Complete). Personalization: ResearchGate (Basic), AllConferences.com (None), Others (None), Event Sphere (Advanced). Real-time Updates: ResearchGate (No), AllConferences.com (Delayed), University Websites (Varies), Email Lists (Yes), Event Sphere (Yes).</a:t>
            </a:r>
            <a:endParaRPr b="0" i="0" sz="2150" u="none">
              <a:solidFill>
                <a:srgbClr val="000000"/>
              </a:solidFill>
              <a:latin typeface="Calibri"/>
              <a:ea typeface="Calibri"/>
              <a:cs typeface="Calibri"/>
              <a:sym typeface="Calibri"/>
            </a:endParaRPr>
          </a:p>
          <a:p>
            <a:pPr indent="-304800" lvl="0" marL="339725" marR="0" rtl="0" algn="just">
              <a:lnSpc>
                <a:spcPct val="100000"/>
              </a:lnSpc>
              <a:spcBef>
                <a:spcPts val="600"/>
              </a:spcBef>
              <a:spcAft>
                <a:spcPts val="0"/>
              </a:spcAft>
              <a:buClr>
                <a:srgbClr val="000000"/>
              </a:buClr>
              <a:buSzPts val="2150"/>
              <a:buFont typeface="Arial"/>
              <a:buChar char="•"/>
            </a:pPr>
            <a:r>
              <a:rPr b="0" i="0" lang="en-US" sz="2150" u="none">
                <a:solidFill>
                  <a:srgbClr val="000000"/>
                </a:solidFill>
                <a:latin typeface="Lustria"/>
                <a:ea typeface="Lustria"/>
                <a:cs typeface="Lustria"/>
                <a:sym typeface="Lustria"/>
              </a:rPr>
              <a:t>Event Sphere outperforms all compared platforms: only platform with Complete coverage + Advanced personalization + Real-time updates simultaneously. Reduces search time by 84% compared to manual methods and achieves 89.7% ML categorization accuracy across 15 event categories and 45 subcategories.</a:t>
            </a:r>
            <a:endParaRPr b="0" i="0" sz="215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700" u="none">
              <a:solidFill>
                <a:srgbClr val="000000"/>
              </a:solidFill>
              <a:latin typeface="Calibri"/>
              <a:ea typeface="Calibri"/>
              <a:cs typeface="Calibri"/>
              <a:sym typeface="Calibri"/>
            </a:endParaRPr>
          </a:p>
        </p:txBody>
      </p:sp>
      <p:sp>
        <p:nvSpPr>
          <p:cNvPr id="132" name="Google Shape;132;p15"/>
          <p:cNvSpPr txBox="1"/>
          <p:nvPr/>
        </p:nvSpPr>
        <p:spPr>
          <a:xfrm>
            <a:off x="250825" y="6453187"/>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pic>
        <p:nvPicPr>
          <p:cNvPr id="133" name="Google Shape;133;p15"/>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pic>
        <p:nvPicPr>
          <p:cNvPr id="134" name="Google Shape;134;p15"/>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6"/>
          <p:cNvSpPr txBox="1"/>
          <p:nvPr/>
        </p:nvSpPr>
        <p:spPr>
          <a:xfrm>
            <a:off x="457200" y="274637"/>
            <a:ext cx="8229600" cy="1143000"/>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400"/>
              <a:buFont typeface="Lustria"/>
              <a:buNone/>
            </a:pPr>
            <a:r>
              <a:rPr b="0" i="0" lang="en-US" sz="4400" u="none">
                <a:solidFill>
                  <a:srgbClr val="000000"/>
                </a:solidFill>
                <a:latin typeface="Lustria"/>
                <a:ea typeface="Lustria"/>
                <a:cs typeface="Lustria"/>
                <a:sym typeface="Lustria"/>
              </a:rPr>
              <a:t>Discussion</a:t>
            </a:r>
            <a:endParaRPr/>
          </a:p>
        </p:txBody>
      </p:sp>
      <p:sp>
        <p:nvSpPr>
          <p:cNvPr id="140" name="Google Shape;140;p16"/>
          <p:cNvSpPr txBox="1"/>
          <p:nvPr/>
        </p:nvSpPr>
        <p:spPr>
          <a:xfrm>
            <a:off x="457200" y="1600200"/>
            <a:ext cx="8229600" cy="4525962"/>
          </a:xfrm>
          <a:prstGeom prst="rect">
            <a:avLst/>
          </a:prstGeom>
          <a:noFill/>
          <a:ln>
            <a:noFill/>
          </a:ln>
        </p:spPr>
        <p:txBody>
          <a:bodyPr anchorCtr="0" anchor="t" bIns="46800" lIns="90000" spcFirstLastPara="1" rIns="90000" wrap="square" tIns="46800">
            <a:noAutofit/>
          </a:bodyPr>
          <a:lstStyle/>
          <a:p>
            <a:pPr indent="-295275" lvl="0" marL="339725" marR="0" rtl="0" algn="just">
              <a:lnSpc>
                <a:spcPct val="9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Key Success Factors: </a:t>
            </a:r>
            <a:endParaRPr b="0" i="0" sz="2000" u="none">
              <a:solidFill>
                <a:srgbClr val="000000"/>
              </a:solidFill>
              <a:latin typeface="Lustria"/>
              <a:ea typeface="Lustria"/>
              <a:cs typeface="Lustria"/>
              <a:sym typeface="Lustria"/>
            </a:endParaRPr>
          </a:p>
          <a:p>
            <a:pPr indent="0" lvl="0" marL="457200" marR="0" rtl="0" algn="just">
              <a:lnSpc>
                <a:spcPct val="90000"/>
              </a:lnSpc>
              <a:spcBef>
                <a:spcPts val="0"/>
              </a:spcBef>
              <a:spcAft>
                <a:spcPts val="0"/>
              </a:spcAft>
              <a:buNone/>
            </a:pPr>
            <a:r>
              <a:t/>
            </a:r>
            <a:endParaRPr sz="2000">
              <a:latin typeface="Lustria"/>
              <a:ea typeface="Lustria"/>
              <a:cs typeface="Lustria"/>
              <a:sym typeface="Lustria"/>
            </a:endParaRPr>
          </a:p>
          <a:p>
            <a:pPr indent="0" lvl="0" marL="457200" marR="0" rtl="0" algn="just">
              <a:lnSpc>
                <a:spcPct val="90000"/>
              </a:lnSpc>
              <a:spcBef>
                <a:spcPts val="0"/>
              </a:spcBef>
              <a:spcAft>
                <a:spcPts val="0"/>
              </a:spcAft>
              <a:buNone/>
            </a:pPr>
            <a:r>
              <a:rPr b="0" i="0" lang="en-US" sz="2000" u="none">
                <a:solidFill>
                  <a:srgbClr val="000000"/>
                </a:solidFill>
                <a:latin typeface="Lustria"/>
                <a:ea typeface="Lustria"/>
                <a:cs typeface="Lustria"/>
                <a:sym typeface="Lustria"/>
              </a:rPr>
              <a:t>(1) Wide data collection from diverse platforms for comprehensive event coverage. </a:t>
            </a:r>
            <a:endParaRPr b="0" i="0" sz="2000" u="none">
              <a:solidFill>
                <a:srgbClr val="000000"/>
              </a:solidFill>
              <a:latin typeface="Lustria"/>
              <a:ea typeface="Lustria"/>
              <a:cs typeface="Lustria"/>
              <a:sym typeface="Lustria"/>
            </a:endParaRPr>
          </a:p>
          <a:p>
            <a:pPr indent="0" lvl="0" marL="457200" marR="0" rtl="0" algn="just">
              <a:lnSpc>
                <a:spcPct val="90000"/>
              </a:lnSpc>
              <a:spcBef>
                <a:spcPts val="0"/>
              </a:spcBef>
              <a:spcAft>
                <a:spcPts val="0"/>
              </a:spcAft>
              <a:buNone/>
            </a:pPr>
            <a:r>
              <a:rPr b="0" i="0" lang="en-US" sz="2000" u="none">
                <a:solidFill>
                  <a:srgbClr val="000000"/>
                </a:solidFill>
                <a:latin typeface="Lustria"/>
                <a:ea typeface="Lustria"/>
                <a:cs typeface="Lustria"/>
                <a:sym typeface="Lustria"/>
              </a:rPr>
              <a:t>(2) ML-based categorization ensures accurate event grouping. (3) User-centered UI design driven by iterative feedback. </a:t>
            </a:r>
            <a:endParaRPr b="0" i="0" sz="2000" u="none">
              <a:solidFill>
                <a:srgbClr val="000000"/>
              </a:solidFill>
              <a:latin typeface="Lustria"/>
              <a:ea typeface="Lustria"/>
              <a:cs typeface="Lustria"/>
              <a:sym typeface="Lustria"/>
            </a:endParaRPr>
          </a:p>
          <a:p>
            <a:pPr indent="0" lvl="0" marL="457200" marR="0" rtl="0" algn="just">
              <a:lnSpc>
                <a:spcPct val="90000"/>
              </a:lnSpc>
              <a:spcBef>
                <a:spcPts val="0"/>
              </a:spcBef>
              <a:spcAft>
                <a:spcPts val="0"/>
              </a:spcAft>
              <a:buNone/>
            </a:pPr>
            <a:r>
              <a:rPr b="0" i="0" lang="en-US" sz="2000" u="none">
                <a:solidFill>
                  <a:srgbClr val="000000"/>
                </a:solidFill>
                <a:latin typeface="Lustria"/>
                <a:ea typeface="Lustria"/>
                <a:cs typeface="Lustria"/>
                <a:sym typeface="Lustria"/>
              </a:rPr>
              <a:t>(4) Hybrid recommendation combining content-based and collaborative filtering for personalized suggestions. Limitations: Data quality inconsistencies across scraped sources. Scalability bottlenecks under high user load. Anti-scraping measures on some platforms. Social media monitoring (LinkedIn/Twitter) proved less effective than expected. Impact: Event Sphere significantly reduces the academic opportunity gap — especially for undergraduate students and early-career researchers who benefit most from easier, faster event discovery.</a:t>
            </a:r>
            <a:endParaRPr b="0" i="0" sz="20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000" u="none">
              <a:solidFill>
                <a:srgbClr val="000000"/>
              </a:solidFill>
              <a:latin typeface="Calibri"/>
              <a:ea typeface="Calibri"/>
              <a:cs typeface="Calibri"/>
              <a:sym typeface="Calibri"/>
            </a:endParaRPr>
          </a:p>
        </p:txBody>
      </p:sp>
      <p:sp>
        <p:nvSpPr>
          <p:cNvPr id="141" name="Google Shape;141;p16"/>
          <p:cNvSpPr txBox="1"/>
          <p:nvPr/>
        </p:nvSpPr>
        <p:spPr>
          <a:xfrm>
            <a:off x="250825" y="6453187"/>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pic>
        <p:nvPicPr>
          <p:cNvPr id="142" name="Google Shape;142;p16"/>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pic>
        <p:nvPicPr>
          <p:cNvPr id="143" name="Google Shape;143;p16"/>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nvSpPr>
        <p:spPr>
          <a:xfrm>
            <a:off x="457200" y="274637"/>
            <a:ext cx="8229600" cy="1143000"/>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400"/>
              <a:buFont typeface="Lustria"/>
              <a:buNone/>
            </a:pPr>
            <a:r>
              <a:rPr b="0" i="0" lang="en-US" sz="4400" u="none">
                <a:solidFill>
                  <a:srgbClr val="000000"/>
                </a:solidFill>
                <a:latin typeface="Lustria"/>
                <a:ea typeface="Lustria"/>
                <a:cs typeface="Lustria"/>
                <a:sym typeface="Lustria"/>
              </a:rPr>
              <a:t>Conclusion</a:t>
            </a:r>
            <a:endParaRPr/>
          </a:p>
        </p:txBody>
      </p:sp>
      <p:sp>
        <p:nvSpPr>
          <p:cNvPr id="149" name="Google Shape;149;p17"/>
          <p:cNvSpPr txBox="1"/>
          <p:nvPr/>
        </p:nvSpPr>
        <p:spPr>
          <a:xfrm>
            <a:off x="457200" y="1600200"/>
            <a:ext cx="8229600" cy="4525962"/>
          </a:xfrm>
          <a:prstGeom prst="rect">
            <a:avLst/>
          </a:prstGeom>
          <a:noFill/>
          <a:ln>
            <a:noFill/>
          </a:ln>
        </p:spPr>
        <p:txBody>
          <a:bodyPr anchorCtr="0" anchor="t" bIns="46800" lIns="90000" spcFirstLastPara="1" rIns="90000" wrap="square" tIns="46800">
            <a:noAutofit/>
          </a:bodyPr>
          <a:lstStyle/>
          <a:p>
            <a:pPr indent="-295275" lvl="0" marL="339725" marR="0" rtl="0" algn="just">
              <a:lnSpc>
                <a:spcPct val="9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Event Sphere successfully addresses the fragmented academic event discovery problem by providing a unified, intelligent aggregation portal. Major achievements: Reduced event search time by up to 84% (14.7 min → 2.3 min). Improved event coverage by 132% compared to manual search. Achieved 89.7% ML categorization accuracy across 15 categories. Delivered personalized recommendations with F1-Score of 0.79 overall. Attained 4.4/5 overall user satisfaction across 250 participants.</a:t>
            </a:r>
            <a:endParaRPr b="0" i="0" sz="2000" u="none">
              <a:solidFill>
                <a:srgbClr val="000000"/>
              </a:solidFill>
              <a:latin typeface="Calibri"/>
              <a:ea typeface="Calibri"/>
              <a:cs typeface="Calibri"/>
              <a:sym typeface="Calibri"/>
            </a:endParaRPr>
          </a:p>
          <a:p>
            <a:pPr indent="-314325" lvl="0" marL="339725" marR="0" rtl="0" algn="just">
              <a:lnSpc>
                <a:spcPct val="90000"/>
              </a:lnSpc>
              <a:spcBef>
                <a:spcPts val="60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Event Sphere empowers students, faculty, and researchers to discover, plan, and participate in academic events more effectively — contributing to stronger research culture and better institutional performance.</a:t>
            </a:r>
            <a:endParaRPr b="0" i="0" sz="20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400" u="none">
              <a:solidFill>
                <a:srgbClr val="000000"/>
              </a:solidFill>
              <a:latin typeface="Calibri"/>
              <a:ea typeface="Calibri"/>
              <a:cs typeface="Calibri"/>
              <a:sym typeface="Calibri"/>
            </a:endParaRPr>
          </a:p>
        </p:txBody>
      </p:sp>
      <p:sp>
        <p:nvSpPr>
          <p:cNvPr id="150" name="Google Shape;150;p17"/>
          <p:cNvSpPr txBox="1"/>
          <p:nvPr/>
        </p:nvSpPr>
        <p:spPr>
          <a:xfrm>
            <a:off x="250825" y="6453187"/>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pic>
        <p:nvPicPr>
          <p:cNvPr id="151" name="Google Shape;151;p17"/>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pic>
        <p:nvPicPr>
          <p:cNvPr id="152" name="Google Shape;152;p17"/>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8"/>
          <p:cNvSpPr txBox="1"/>
          <p:nvPr/>
        </p:nvSpPr>
        <p:spPr>
          <a:xfrm>
            <a:off x="457200" y="274637"/>
            <a:ext cx="8229600" cy="1143000"/>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400"/>
              <a:buFont typeface="Lustria"/>
              <a:buNone/>
            </a:pPr>
            <a:r>
              <a:rPr b="0" i="0" lang="en-US" sz="4400" u="none">
                <a:solidFill>
                  <a:srgbClr val="000000"/>
                </a:solidFill>
                <a:latin typeface="Lustria"/>
                <a:ea typeface="Lustria"/>
                <a:cs typeface="Lustria"/>
                <a:sym typeface="Lustria"/>
              </a:rPr>
              <a:t>Future Work</a:t>
            </a:r>
            <a:endParaRPr/>
          </a:p>
        </p:txBody>
      </p:sp>
      <p:sp>
        <p:nvSpPr>
          <p:cNvPr id="158" name="Google Shape;158;p18"/>
          <p:cNvSpPr txBox="1"/>
          <p:nvPr/>
        </p:nvSpPr>
        <p:spPr>
          <a:xfrm>
            <a:off x="457200" y="1600200"/>
            <a:ext cx="8229600" cy="4525962"/>
          </a:xfrm>
          <a:prstGeom prst="rect">
            <a:avLst/>
          </a:prstGeom>
          <a:noFill/>
          <a:ln>
            <a:noFill/>
          </a:ln>
        </p:spPr>
        <p:txBody>
          <a:bodyPr anchorCtr="0" anchor="t" bIns="46800" lIns="90000" spcFirstLastPara="1" rIns="90000" wrap="square" tIns="46800">
            <a:noAutofit/>
          </a:bodyPr>
          <a:lstStyle/>
          <a:p>
            <a:pPr indent="-295275" lvl="0" marL="339725" marR="0" rtl="0" algn="just">
              <a:lnSpc>
                <a:spcPct val="10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Advanced NLP: Implement transformer-based models (BERT, GPT) for improved event classification and entity extraction. </a:t>
            </a:r>
            <a:endParaRPr b="0" i="0" sz="2000" u="none">
              <a:solidFill>
                <a:srgbClr val="000000"/>
              </a:solidFill>
              <a:latin typeface="Lustria"/>
              <a:ea typeface="Lustria"/>
              <a:cs typeface="Lustria"/>
              <a:sym typeface="Lustria"/>
            </a:endParaRPr>
          </a:p>
          <a:p>
            <a:pPr indent="-295275" lvl="0" marL="339725" marR="0" rtl="0" algn="just">
              <a:lnSpc>
                <a:spcPct val="10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Mobile Application: Develop native Android and iOS apps for on-the-go event discovery. </a:t>
            </a:r>
            <a:endParaRPr b="0" i="0" sz="2000" u="none">
              <a:solidFill>
                <a:srgbClr val="000000"/>
              </a:solidFill>
              <a:latin typeface="Lustria"/>
              <a:ea typeface="Lustria"/>
              <a:cs typeface="Lustria"/>
              <a:sym typeface="Lustria"/>
            </a:endParaRPr>
          </a:p>
          <a:p>
            <a:pPr indent="-295275" lvl="0" marL="339725" marR="0" rtl="0" algn="just">
              <a:lnSpc>
                <a:spcPct val="10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Academic Calendar Integration: Sync with institutional academic calendars for smarter scheduling. </a:t>
            </a:r>
            <a:endParaRPr b="0" i="0" sz="2000" u="none">
              <a:solidFill>
                <a:srgbClr val="000000"/>
              </a:solidFill>
              <a:latin typeface="Lustria"/>
              <a:ea typeface="Lustria"/>
              <a:cs typeface="Lustria"/>
              <a:sym typeface="Lustria"/>
            </a:endParaRPr>
          </a:p>
          <a:p>
            <a:pPr indent="-295275" lvl="0" marL="339725" marR="0" rtl="0" algn="just">
              <a:lnSpc>
                <a:spcPct val="10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Multilingual Support: Add support for non-English events and interfaces to expand global reach. </a:t>
            </a:r>
            <a:endParaRPr b="0" i="0" sz="2000" u="none">
              <a:solidFill>
                <a:srgbClr val="000000"/>
              </a:solidFill>
              <a:latin typeface="Lustria"/>
              <a:ea typeface="Lustria"/>
              <a:cs typeface="Lustria"/>
              <a:sym typeface="Lustria"/>
            </a:endParaRPr>
          </a:p>
          <a:p>
            <a:pPr indent="-295275" lvl="0" marL="339725" marR="0" rtl="0" algn="just">
              <a:lnSpc>
                <a:spcPct val="10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Enhanced Scalability: Optimize backend architecture for higher concurrent user loads. </a:t>
            </a:r>
            <a:endParaRPr b="0" i="0" sz="2000" u="none">
              <a:solidFill>
                <a:srgbClr val="000000"/>
              </a:solidFill>
              <a:latin typeface="Lustria"/>
              <a:ea typeface="Lustria"/>
              <a:cs typeface="Lustria"/>
              <a:sym typeface="Lustria"/>
            </a:endParaRPr>
          </a:p>
          <a:p>
            <a:pPr indent="-295275" lvl="0" marL="339725" marR="0" rtl="0" algn="just">
              <a:lnSpc>
                <a:spcPct val="10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Improved Social Media Integration: Better LinkedIn and Twitter monitoring using authenticated APIs. </a:t>
            </a:r>
            <a:endParaRPr b="0" i="0" sz="2000" u="none">
              <a:solidFill>
                <a:srgbClr val="000000"/>
              </a:solidFill>
              <a:latin typeface="Lustria"/>
              <a:ea typeface="Lustria"/>
              <a:cs typeface="Lustria"/>
              <a:sym typeface="Lustria"/>
            </a:endParaRPr>
          </a:p>
          <a:p>
            <a:pPr indent="-295275" lvl="0" marL="339725" marR="0" rtl="0" algn="just">
              <a:lnSpc>
                <a:spcPct val="100000"/>
              </a:lnSpc>
              <a:spcBef>
                <a:spcPts val="0"/>
              </a:spcBef>
              <a:spcAft>
                <a:spcPts val="0"/>
              </a:spcAft>
              <a:buClr>
                <a:srgbClr val="000000"/>
              </a:buClr>
              <a:buSzPts val="2000"/>
              <a:buFont typeface="Arial"/>
              <a:buChar char="•"/>
            </a:pPr>
            <a:r>
              <a:rPr b="0" i="0" lang="en-US" sz="2000" u="none">
                <a:solidFill>
                  <a:srgbClr val="000000"/>
                </a:solidFill>
                <a:latin typeface="Lustria"/>
                <a:ea typeface="Lustria"/>
                <a:cs typeface="Lustria"/>
                <a:sym typeface="Lustria"/>
              </a:rPr>
              <a:t>Real-time Collaboration: Allow users to co-register and form research teams around shared events.</a:t>
            </a:r>
            <a:endParaRPr b="0" i="0" sz="20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700" u="none">
              <a:solidFill>
                <a:srgbClr val="000000"/>
              </a:solidFill>
              <a:latin typeface="Calibri"/>
              <a:ea typeface="Calibri"/>
              <a:cs typeface="Calibri"/>
              <a:sym typeface="Calibri"/>
            </a:endParaRPr>
          </a:p>
        </p:txBody>
      </p:sp>
      <p:sp>
        <p:nvSpPr>
          <p:cNvPr id="159" name="Google Shape;159;p18"/>
          <p:cNvSpPr txBox="1"/>
          <p:nvPr/>
        </p:nvSpPr>
        <p:spPr>
          <a:xfrm>
            <a:off x="250825" y="6453187"/>
            <a:ext cx="6624637" cy="288925"/>
          </a:xfrm>
          <a:prstGeom prst="rect">
            <a:avLst/>
          </a:prstGeom>
          <a:noFill/>
          <a:ln>
            <a:noFill/>
          </a:ln>
        </p:spPr>
        <p:txBody>
          <a:bodyPr anchorCtr="0" anchor="t" bIns="46800" lIns="90000" spcFirstLastPara="1" rIns="90000" wrap="square" tIns="46800">
            <a:no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pic>
        <p:nvPicPr>
          <p:cNvPr id="160" name="Google Shape;160;p18"/>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pic>
        <p:nvPicPr>
          <p:cNvPr id="161" name="Google Shape;161;p18"/>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9"/>
          <p:cNvSpPr txBox="1"/>
          <p:nvPr/>
        </p:nvSpPr>
        <p:spPr>
          <a:xfrm>
            <a:off x="457200" y="274637"/>
            <a:ext cx="8229600" cy="1143000"/>
          </a:xfrm>
          <a:prstGeom prst="rect">
            <a:avLst/>
          </a:prstGeom>
          <a:noFill/>
          <a:ln>
            <a:noFill/>
          </a:ln>
        </p:spPr>
        <p:txBody>
          <a:bodyPr anchorCtr="0" anchor="ctr" bIns="46800" lIns="90000" spcFirstLastPara="1" rIns="90000" wrap="square" tIns="46800">
            <a:normAutofit/>
          </a:bodyPr>
          <a:lstStyle/>
          <a:p>
            <a:pPr indent="0" lvl="0" marL="0" marR="0" rtl="0" algn="ctr">
              <a:lnSpc>
                <a:spcPct val="100000"/>
              </a:lnSpc>
              <a:spcBef>
                <a:spcPts val="0"/>
              </a:spcBef>
              <a:spcAft>
                <a:spcPts val="0"/>
              </a:spcAft>
              <a:buClr>
                <a:srgbClr val="000000"/>
              </a:buClr>
              <a:buSzPts val="4400"/>
              <a:buFont typeface="Lustria"/>
              <a:buNone/>
            </a:pPr>
            <a:r>
              <a:rPr b="0" i="0" lang="en-US" sz="4400" u="none">
                <a:solidFill>
                  <a:srgbClr val="000000"/>
                </a:solidFill>
                <a:latin typeface="Lustria"/>
                <a:ea typeface="Lustria"/>
                <a:cs typeface="Lustria"/>
                <a:sym typeface="Lustria"/>
              </a:rPr>
              <a:t>References</a:t>
            </a:r>
            <a:endParaRPr/>
          </a:p>
        </p:txBody>
      </p:sp>
      <p:sp>
        <p:nvSpPr>
          <p:cNvPr id="167" name="Google Shape;167;p19"/>
          <p:cNvSpPr txBox="1"/>
          <p:nvPr/>
        </p:nvSpPr>
        <p:spPr>
          <a:xfrm>
            <a:off x="457200" y="1600200"/>
            <a:ext cx="8229600" cy="4525962"/>
          </a:xfrm>
          <a:prstGeom prst="rect">
            <a:avLst/>
          </a:prstGeom>
          <a:noFill/>
          <a:ln>
            <a:noFill/>
          </a:ln>
        </p:spPr>
        <p:txBody>
          <a:bodyPr anchorCtr="0" anchor="t" bIns="46800" lIns="90000" spcFirstLastPara="1" rIns="90000" wrap="square" tIns="46800">
            <a:normAutofit fontScale="55000" lnSpcReduction="10000"/>
          </a:bodyPr>
          <a:lstStyle/>
          <a:p>
            <a:pPr indent="0" lvl="0" marL="0" marR="0" rtl="0" algn="just">
              <a:lnSpc>
                <a:spcPct val="90000"/>
              </a:lnSpc>
              <a:spcBef>
                <a:spcPts val="600"/>
              </a:spcBef>
              <a:spcAft>
                <a:spcPts val="0"/>
              </a:spcAft>
              <a:buClr>
                <a:schemeClr val="dk1"/>
              </a:buClr>
              <a:buSzPct val="100000"/>
              <a:buFont typeface="Arial"/>
              <a:buNone/>
            </a:pPr>
            <a:r>
              <a:t/>
            </a:r>
            <a:endParaRPr b="0" i="0" sz="2700" u="none">
              <a:solidFill>
                <a:srgbClr val="000000"/>
              </a:solidFill>
              <a:latin typeface="Calibri"/>
              <a:ea typeface="Calibri"/>
              <a:cs typeface="Calibri"/>
              <a:sym typeface="Calibri"/>
            </a:endParaRPr>
          </a:p>
          <a:p>
            <a:pPr indent="-339725" lvl="0" marL="339725" marR="0" rtl="0" algn="just">
              <a:lnSpc>
                <a:spcPct val="90000"/>
              </a:lnSpc>
              <a:spcBef>
                <a:spcPts val="600"/>
              </a:spcBef>
              <a:spcAft>
                <a:spcPts val="0"/>
              </a:spcAft>
              <a:buClr>
                <a:srgbClr val="000000"/>
              </a:buClr>
              <a:buSzPct val="84225"/>
              <a:buFont typeface="Lustria"/>
              <a:buNone/>
            </a:pPr>
            <a:r>
              <a:rPr b="0" i="0" lang="en-US" sz="3206" u="none">
                <a:solidFill>
                  <a:srgbClr val="000000"/>
                </a:solidFill>
                <a:latin typeface="Lustria"/>
                <a:ea typeface="Lustria"/>
                <a:cs typeface="Lustria"/>
                <a:sym typeface="Lustria"/>
              </a:rPr>
              <a:t>[1] A. Smith and B. Johnson, "The Impact of Academic Conferences on Research Collaboration," Journal of Academic Research, vol. 45, no. 2, pp. 123-135, 2021. [2] C. Davis, "Challenges in Academic Event Discovery," Proc. Intl. Conf. on Educational Technology, 2022. [3] M. Thompson and R. Wilson, "Social Networks for Academics," Computers &amp; Education, vol. 78, 2020. [4] K. Brown and L. Miller, "Automated Event Aggregation Systems," Proc. ACM Symposium on IR, 2021. [5] P. Anderson and S. Clark, "NLP for Event Extraction," Journal of Web Engineering, vol. 19, no. 3, 2022.</a:t>
            </a:r>
            <a:endParaRPr b="0" i="0" sz="3206" u="none">
              <a:solidFill>
                <a:srgbClr val="000000"/>
              </a:solidFill>
              <a:latin typeface="Calibri"/>
              <a:ea typeface="Calibri"/>
              <a:cs typeface="Calibri"/>
              <a:sym typeface="Calibri"/>
            </a:endParaRPr>
          </a:p>
          <a:p>
            <a:pPr indent="-339725" lvl="0" marL="339725" marR="0" rtl="0" algn="just">
              <a:lnSpc>
                <a:spcPct val="90000"/>
              </a:lnSpc>
              <a:spcBef>
                <a:spcPts val="600"/>
              </a:spcBef>
              <a:spcAft>
                <a:spcPts val="0"/>
              </a:spcAft>
              <a:buClr>
                <a:srgbClr val="000000"/>
              </a:buClr>
              <a:buSzPct val="75000"/>
              <a:buFont typeface="Lustria"/>
              <a:buNone/>
            </a:pPr>
            <a:r>
              <a:rPr b="0" i="0" lang="en-US" sz="3200" u="none">
                <a:solidFill>
                  <a:srgbClr val="000000"/>
                </a:solidFill>
                <a:latin typeface="Lustria"/>
                <a:ea typeface="Lustria"/>
                <a:cs typeface="Lustria"/>
                <a:sym typeface="Lustria"/>
              </a:rPr>
              <a:t>[6] T. Roberts and D. White, "ML Approaches for Content Categorization," IEEE Trans. Knowledge &amp; Data Eng., vol. 34, no. 5, 2022. [7] J. Martin and H. Lee, "Web Scraping Technologies," Proc. Intl. Conf. on Web Services, 2021. [8] R. Garcia and M. Kim, "Hybrid Recommendation Systems," Educational Technology R&amp;D, vol. 69, no. 4, 2021. [9] S. Patel and N. Davis, "User-Centric Design for Academic Platforms," Proc. HCI, 2022. [10] L. Harris and P. Turner, "Evaluating IR Systems in Academic Contexts," Journal of Information Science, 2022.</a:t>
            </a:r>
            <a:endParaRPr sz="3200"/>
          </a:p>
          <a:p>
            <a:pPr indent="-339725" lvl="0" marL="339725" marR="0" rtl="0" algn="just">
              <a:lnSpc>
                <a:spcPct val="90000"/>
              </a:lnSpc>
              <a:spcBef>
                <a:spcPts val="600"/>
              </a:spcBef>
              <a:spcAft>
                <a:spcPts val="0"/>
              </a:spcAft>
              <a:buClr>
                <a:schemeClr val="dk1"/>
              </a:buClr>
              <a:buSzPct val="100000"/>
              <a:buFont typeface="Arial"/>
              <a:buNone/>
            </a:pPr>
            <a:r>
              <a:t/>
            </a:r>
            <a:endParaRPr b="0" i="0" sz="24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400" u="none">
              <a:solidFill>
                <a:srgbClr val="000000"/>
              </a:solidFill>
              <a:latin typeface="Calibri"/>
              <a:ea typeface="Calibri"/>
              <a:cs typeface="Calibri"/>
              <a:sym typeface="Calibri"/>
            </a:endParaRPr>
          </a:p>
        </p:txBody>
      </p:sp>
      <p:sp>
        <p:nvSpPr>
          <p:cNvPr id="168" name="Google Shape;168;p19"/>
          <p:cNvSpPr txBox="1"/>
          <p:nvPr/>
        </p:nvSpPr>
        <p:spPr>
          <a:xfrm>
            <a:off x="250825" y="6453187"/>
            <a:ext cx="6624637" cy="288925"/>
          </a:xfrm>
          <a:prstGeom prst="rect">
            <a:avLst/>
          </a:prstGeom>
          <a:noFill/>
          <a:ln>
            <a:noFill/>
          </a:ln>
        </p:spPr>
        <p:txBody>
          <a:bodyPr anchorCtr="0" anchor="t" bIns="46800" lIns="90000" spcFirstLastPara="1" rIns="90000" wrap="square" tIns="46800">
            <a:norm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69" name="Google Shape;169;p19"/>
          <p:cNvPicPr preferRelativeResize="0"/>
          <p:nvPr/>
        </p:nvPicPr>
        <p:blipFill rotWithShape="1">
          <a:blip r:embed="rId3">
            <a:alphaModFix/>
          </a:blip>
          <a:srcRect b="0" l="0" r="0" t="0"/>
          <a:stretch/>
        </p:blipFill>
        <p:spPr>
          <a:xfrm>
            <a:off x="7162800" y="6237287"/>
            <a:ext cx="2017712" cy="719137"/>
          </a:xfrm>
          <a:prstGeom prst="rect">
            <a:avLst/>
          </a:prstGeom>
          <a:noFill/>
          <a:ln>
            <a:noFill/>
          </a:ln>
        </p:spPr>
      </p:pic>
      <p:sp>
        <p:nvSpPr>
          <p:cNvPr id="170" name="Google Shape;170;p19"/>
          <p:cNvSpPr txBox="1"/>
          <p:nvPr/>
        </p:nvSpPr>
        <p:spPr>
          <a:xfrm>
            <a:off x="157162" y="6519862"/>
            <a:ext cx="4591050" cy="288925"/>
          </a:xfrm>
          <a:prstGeom prst="rect">
            <a:avLst/>
          </a:prstGeom>
          <a:noFill/>
          <a:ln>
            <a:noFill/>
          </a:ln>
        </p:spPr>
        <p:txBody>
          <a:bodyPr anchorCtr="0" anchor="t" bIns="46800" lIns="90000" spcFirstLastPara="1" rIns="90000" wrap="square" tIns="46800">
            <a:spAutoFit/>
          </a:bodyPr>
          <a:lstStyle/>
          <a:p>
            <a:pPr indent="0" lvl="0" marL="0" marR="0" rtl="0" algn="l">
              <a:lnSpc>
                <a:spcPct val="80000"/>
              </a:lnSpc>
              <a:spcBef>
                <a:spcPts val="0"/>
              </a:spcBef>
              <a:spcAft>
                <a:spcPts val="0"/>
              </a:spcAft>
              <a:buClr>
                <a:srgbClr val="FF0000"/>
              </a:buClr>
              <a:buSzPts val="1600"/>
              <a:buFont typeface="Times New Roman"/>
              <a:buNone/>
            </a:pPr>
            <a:r>
              <a:rPr b="1" i="0" lang="en-US" sz="1600" u="none">
                <a:solidFill>
                  <a:srgbClr val="FF0000"/>
                </a:solidFill>
                <a:latin typeface="Times New Roman"/>
                <a:ea typeface="Times New Roman"/>
                <a:cs typeface="Times New Roman"/>
                <a:sym typeface="Times New Roman"/>
              </a:rPr>
              <a:t>ICSAICS-2026</a:t>
            </a:r>
            <a:endParaRPr/>
          </a:p>
        </p:txBody>
      </p:sp>
      <p:pic>
        <p:nvPicPr>
          <p:cNvPr id="171" name="Google Shape;171;p19"/>
          <p:cNvPicPr preferRelativeResize="0"/>
          <p:nvPr/>
        </p:nvPicPr>
        <p:blipFill rotWithShape="1">
          <a:blip r:embed="rId4">
            <a:alphaModFix/>
          </a:blip>
          <a:srcRect b="0" l="0" r="0" t="0"/>
          <a:stretch/>
        </p:blipFill>
        <p:spPr>
          <a:xfrm>
            <a:off x="7627937" y="-177800"/>
            <a:ext cx="1546225" cy="2025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